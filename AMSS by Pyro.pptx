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8" r:id="rId8"/>
  </p:sldIdLst>
  <p:sldSz cx="18288000" cy="10287000"/>
  <p:notesSz cx="6858000" cy="9144000"/>
  <p:embeddedFontLst>
    <p:embeddedFont>
      <p:font typeface="Franklin Gothic" panose="020B0604020202020204" charset="0"/>
      <p:bold r:id="rId9"/>
    </p:embeddedFont>
    <p:embeddedFont>
      <p:font typeface="HK Modular" panose="020B0604020202020204" charset="0"/>
      <p:regular r:id="rId10"/>
    </p:embeddedFont>
    <p:embeddedFont>
      <p:font typeface="Poppins Bold" panose="020B0604020202020204" charset="0"/>
      <p:regular r:id="rId11"/>
      <p:bold r:id="rId12"/>
    </p:embeddedFont>
    <p:embeddedFont>
      <p:font typeface="Touvlo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33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62" autoAdjust="0"/>
    <p:restoredTop sz="94622" autoAdjust="0"/>
  </p:normalViewPr>
  <p:slideViewPr>
    <p:cSldViewPr>
      <p:cViewPr varScale="1">
        <p:scale>
          <a:sx n="49" d="100"/>
          <a:sy n="49" d="100"/>
        </p:scale>
        <p:origin x="672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fif"/><Relationship Id="rId5" Type="http://schemas.openxmlformats.org/officeDocument/2006/relationships/image" Target="../media/image5.jfif"/><Relationship Id="rId4" Type="http://schemas.openxmlformats.org/officeDocument/2006/relationships/image" Target="../media/image4.jf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app.roboflow.com/yash-karn/car-accident-jp29y-fphyg/1" TargetMode="External"/><Relationship Id="rId3" Type="http://schemas.openxmlformats.org/officeDocument/2006/relationships/hyperlink" Target="https://numpy.org/doc/" TargetMode="External"/><Relationship Id="rId7" Type="http://schemas.openxmlformats.org/officeDocument/2006/relationships/hyperlink" Target="https://app.roboflow.com/yash-karn/no-helmet-detection-qhw6v-b1oqj/1" TargetMode="External"/><Relationship Id="rId2" Type="http://schemas.openxmlformats.org/officeDocument/2006/relationships/hyperlink" Target="https://docs.opencv.org/4.x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pp.roboflow.com/yash-karn/helmet-motorcycle-detection-pro0q-r6qgl/1" TargetMode="External"/><Relationship Id="rId5" Type="http://schemas.openxmlformats.org/officeDocument/2006/relationships/hyperlink" Target="https://app.roboflow.com/yash-karn/fire-and-smoke-detection-hiwia-amh6u-exebn/1" TargetMode="External"/><Relationship Id="rId4" Type="http://schemas.openxmlformats.org/officeDocument/2006/relationships/hyperlink" Target="https://public.roboflow.comdatasets/" TargetMode="External"/><Relationship Id="rId9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9A8A0-8592-2263-3B88-B4B1166CF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77BA785C-4255-08D2-E859-203DFB740A3B}"/>
              </a:ext>
            </a:extLst>
          </p:cNvPr>
          <p:cNvSpPr/>
          <p:nvPr/>
        </p:nvSpPr>
        <p:spPr bwMode="auto">
          <a:xfrm>
            <a:off x="228600" y="228600"/>
            <a:ext cx="17830800" cy="9829800"/>
          </a:xfrm>
          <a:custGeom>
            <a:avLst/>
            <a:gdLst/>
            <a:ahLst/>
            <a:cxnLst/>
            <a:rect l="l" t="t" r="r" b="b"/>
            <a:pathLst>
              <a:path w="4551818" h="2485609">
                <a:moveTo>
                  <a:pt x="0" y="0"/>
                </a:moveTo>
                <a:lnTo>
                  <a:pt x="4551818" y="0"/>
                </a:lnTo>
                <a:lnTo>
                  <a:pt x="4551818" y="2485609"/>
                </a:lnTo>
                <a:lnTo>
                  <a:pt x="0" y="248560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85725" cap="sq">
            <a:solidFill>
              <a:schemeClr val="accent2"/>
            </a:solidFill>
            <a:prstDash val="solid"/>
            <a:miter/>
          </a:ln>
        </p:spPr>
        <p:txBody>
          <a:bodyPr/>
          <a:lstStyle/>
          <a:p>
            <a:endParaRPr lang="en-US" dirty="0">
              <a:effectLst/>
            </a:endParaRPr>
          </a:p>
        </p:txBody>
      </p:sp>
      <p:sp>
        <p:nvSpPr>
          <p:cNvPr id="3" name="TextBox 19">
            <a:extLst>
              <a:ext uri="{FF2B5EF4-FFF2-40B4-BE49-F238E27FC236}">
                <a16:creationId xmlns:a16="http://schemas.microsoft.com/office/drawing/2014/main" id="{04B9677E-605E-1D58-DC17-FDEABEB8CAFD}"/>
              </a:ext>
            </a:extLst>
          </p:cNvPr>
          <p:cNvSpPr txBox="1"/>
          <p:nvPr/>
        </p:nvSpPr>
        <p:spPr>
          <a:xfrm>
            <a:off x="3695698" y="739568"/>
            <a:ext cx="10896601" cy="6027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52"/>
              </a:lnSpc>
            </a:pPr>
            <a:r>
              <a:rPr lang="en-US" sz="4800" dirty="0">
                <a:gradFill>
                  <a:gsLst>
                    <a:gs pos="0">
                      <a:srgbClr val="FD2121">
                        <a:alpha val="100000"/>
                      </a:srgbClr>
                    </a:gs>
                    <a:gs pos="100000">
                      <a:srgbClr val="B30000">
                        <a:alpha val="100000"/>
                      </a:srgbClr>
                    </a:gs>
                  </a:gsLst>
                  <a:lin ang="2700000"/>
                </a:gradFill>
                <a:latin typeface="HK Modular"/>
                <a:ea typeface="HK Modular"/>
                <a:cs typeface="HK Modular"/>
                <a:sym typeface="HK Modular"/>
              </a:rPr>
              <a:t>AI FOR ALL CHALLENGE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583B71E3-1D1C-A24C-E4D9-C0F3177F8065}"/>
              </a:ext>
            </a:extLst>
          </p:cNvPr>
          <p:cNvSpPr txBox="1"/>
          <p:nvPr/>
        </p:nvSpPr>
        <p:spPr>
          <a:xfrm>
            <a:off x="7111318" y="598927"/>
            <a:ext cx="4065363" cy="8889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eaLnBrk="1" fontAlgn="auto" hangingPunct="1">
              <a:lnSpc>
                <a:spcPts val="7575"/>
              </a:lnSpc>
              <a:spcAft>
                <a:spcPts val="0"/>
              </a:spcAft>
              <a:defRPr/>
            </a:pPr>
            <a:endParaRPr lang="en-US" sz="5411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45063E-CFDE-9E61-EAF3-4F636ED6851D}"/>
              </a:ext>
            </a:extLst>
          </p:cNvPr>
          <p:cNvSpPr txBox="1"/>
          <p:nvPr/>
        </p:nvSpPr>
        <p:spPr>
          <a:xfrm>
            <a:off x="7505699" y="1670454"/>
            <a:ext cx="3276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631DB0-A254-4E0B-75E3-5C47B2D333AA}"/>
              </a:ext>
            </a:extLst>
          </p:cNvPr>
          <p:cNvSpPr txBox="1"/>
          <p:nvPr/>
        </p:nvSpPr>
        <p:spPr>
          <a:xfrm>
            <a:off x="180117" y="3811593"/>
            <a:ext cx="16927354" cy="49642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33677" lvl="2" indent="-577892">
              <a:lnSpc>
                <a:spcPts val="5622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latin typeface="Arial" panose="020B0604020202020204" pitchFamily="34" charset="0"/>
                <a:ea typeface="Franklin Gothic"/>
                <a:cs typeface="Arial" panose="020B0604020202020204" pitchFamily="34" charset="0"/>
                <a:sym typeface="Franklin Gothic"/>
              </a:rPr>
              <a:t>Problem Statement Title:-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AI Powered Smart Surveillance and Alert System</a:t>
            </a:r>
          </a:p>
          <a:p>
            <a:pPr marL="1733677" lvl="2" indent="-577892">
              <a:lnSpc>
                <a:spcPts val="5622"/>
              </a:lnSpc>
              <a:buFont typeface="Arial" panose="020B0604020202020204" pitchFamily="34" charset="0"/>
              <a:buChar char="•"/>
            </a:pPr>
            <a:endParaRPr lang="en-US" sz="4000" b="1" dirty="0">
              <a:latin typeface="Arial" panose="020B0604020202020204" pitchFamily="34" charset="0"/>
              <a:ea typeface="Franklin Gothic"/>
              <a:cs typeface="Arial" panose="020B0604020202020204" pitchFamily="34" charset="0"/>
              <a:sym typeface="Franklin Gothic"/>
            </a:endParaRPr>
          </a:p>
          <a:p>
            <a:pPr marL="1733677" lvl="2" indent="-577892">
              <a:lnSpc>
                <a:spcPts val="5622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latin typeface="Arial" panose="020B0604020202020204" pitchFamily="34" charset="0"/>
                <a:ea typeface="Franklin Gothic"/>
                <a:cs typeface="Arial" panose="020B0604020202020204" pitchFamily="34" charset="0"/>
                <a:sym typeface="Franklin Gothic"/>
              </a:rPr>
              <a:t>Theme:- AI for Social Impact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33677" lvl="2" indent="-577892">
              <a:lnSpc>
                <a:spcPts val="5622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latin typeface="Arial" panose="020B0604020202020204" pitchFamily="34" charset="0"/>
                <a:ea typeface="Franklin Gothic"/>
                <a:cs typeface="Arial" panose="020B0604020202020204" pitchFamily="34" charset="0"/>
                <a:sym typeface="Franklin Gothic"/>
              </a:rPr>
              <a:t>Team Name:- Pyro</a:t>
            </a:r>
          </a:p>
          <a:p>
            <a:pPr marL="1733677" lvl="2" indent="-577892">
              <a:lnSpc>
                <a:spcPts val="5622"/>
              </a:lnSpc>
              <a:buFont typeface="Arial" panose="020B0604020202020204" pitchFamily="34" charset="0"/>
              <a:buChar char="•"/>
            </a:pP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33677" lvl="2" indent="-577892">
              <a:lnSpc>
                <a:spcPts val="5622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latin typeface="Arial" panose="020B0604020202020204" pitchFamily="34" charset="0"/>
                <a:ea typeface="Franklin Gothic"/>
                <a:cs typeface="Arial" panose="020B0604020202020204" pitchFamily="34" charset="0"/>
                <a:sym typeface="Franklin Gothic"/>
              </a:rPr>
              <a:t>Team Leader Name:- Divyanshu Swain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0E3EAE-CC81-10D9-68BD-C5EDF170AD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84" y="495300"/>
            <a:ext cx="2610416" cy="699326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BCAC8FFD-2C1C-BEE1-CECA-709E9FB48931}"/>
              </a:ext>
            </a:extLst>
          </p:cNvPr>
          <p:cNvSpPr/>
          <p:nvPr/>
        </p:nvSpPr>
        <p:spPr>
          <a:xfrm>
            <a:off x="16535400" y="458799"/>
            <a:ext cx="1233208" cy="1233208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4011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31841-B956-B555-95F7-122530CDD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3">
            <a:extLst>
              <a:ext uri="{FF2B5EF4-FFF2-40B4-BE49-F238E27FC236}">
                <a16:creationId xmlns:a16="http://schemas.microsoft.com/office/drawing/2014/main" id="{99DBB44E-BCA8-D4F5-A79A-47C12E620A3B}"/>
              </a:ext>
            </a:extLst>
          </p:cNvPr>
          <p:cNvSpPr/>
          <p:nvPr/>
        </p:nvSpPr>
        <p:spPr bwMode="auto">
          <a:xfrm>
            <a:off x="253557" y="228600"/>
            <a:ext cx="17830800" cy="9829800"/>
          </a:xfrm>
          <a:custGeom>
            <a:avLst/>
            <a:gdLst/>
            <a:ahLst/>
            <a:cxnLst/>
            <a:rect l="l" t="t" r="r" b="b"/>
            <a:pathLst>
              <a:path w="4551818" h="2485609">
                <a:moveTo>
                  <a:pt x="0" y="0"/>
                </a:moveTo>
                <a:lnTo>
                  <a:pt x="4551818" y="0"/>
                </a:lnTo>
                <a:lnTo>
                  <a:pt x="4551818" y="2485609"/>
                </a:lnTo>
                <a:lnTo>
                  <a:pt x="0" y="248560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85725" cap="sq">
            <a:solidFill>
              <a:schemeClr val="accent2"/>
            </a:solidFill>
            <a:prstDash val="solid"/>
            <a:miter/>
          </a:ln>
        </p:spPr>
        <p:txBody>
          <a:bodyPr/>
          <a:lstStyle/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F9CCAFE9-E1A6-1799-B81A-CF2B606D3418}"/>
              </a:ext>
            </a:extLst>
          </p:cNvPr>
          <p:cNvSpPr txBox="1"/>
          <p:nvPr/>
        </p:nvSpPr>
        <p:spPr>
          <a:xfrm>
            <a:off x="7111318" y="598927"/>
            <a:ext cx="4065363" cy="8889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eaLnBrk="1" fontAlgn="auto" hangingPunct="1">
              <a:lnSpc>
                <a:spcPts val="7575"/>
              </a:lnSpc>
              <a:spcAft>
                <a:spcPts val="0"/>
              </a:spcAft>
              <a:defRPr/>
            </a:pPr>
            <a:endParaRPr lang="en-US" sz="5411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6BA992B-B12E-A39B-30E2-A34994812FC9}"/>
              </a:ext>
            </a:extLst>
          </p:cNvPr>
          <p:cNvSpPr/>
          <p:nvPr/>
        </p:nvSpPr>
        <p:spPr>
          <a:xfrm>
            <a:off x="16535400" y="458799"/>
            <a:ext cx="1233208" cy="1233208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Google Shape;217;p2">
            <a:extLst>
              <a:ext uri="{FF2B5EF4-FFF2-40B4-BE49-F238E27FC236}">
                <a16:creationId xmlns:a16="http://schemas.microsoft.com/office/drawing/2014/main" id="{D266E593-8747-580D-056A-1777407479A8}"/>
              </a:ext>
            </a:extLst>
          </p:cNvPr>
          <p:cNvSpPr txBox="1">
            <a:spLocks/>
          </p:cNvSpPr>
          <p:nvPr/>
        </p:nvSpPr>
        <p:spPr>
          <a:xfrm>
            <a:off x="6099451" y="1487888"/>
            <a:ext cx="6089095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Franklin Gothic"/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 /APPROACH DETAILS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F6502826-34A1-7FB4-7DF6-0A137864BFC2}"/>
              </a:ext>
            </a:extLst>
          </p:cNvPr>
          <p:cNvSpPr txBox="1"/>
          <p:nvPr/>
        </p:nvSpPr>
        <p:spPr>
          <a:xfrm>
            <a:off x="0" y="3276879"/>
            <a:ext cx="18059400" cy="6248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95114" lvl="2" indent="-265038">
              <a:lnSpc>
                <a:spcPts val="4869"/>
              </a:lnSpc>
              <a:buFont typeface="Arial"/>
              <a:buChar char="⚬"/>
            </a:pPr>
            <a:r>
              <a:rPr lang="en-US" sz="3600" dirty="0">
                <a:latin typeface="Touvlo"/>
                <a:ea typeface="Touvlo"/>
                <a:cs typeface="Touvlo"/>
                <a:sym typeface="Touvlo"/>
              </a:rPr>
              <a:t>The project addresses the need for an AI-powered surveillance system that can analyze live camera feeds, detect critical events, notify users, ensuring faster action.</a:t>
            </a:r>
          </a:p>
          <a:p>
            <a:pPr marL="795114" lvl="2" indent="-265038">
              <a:lnSpc>
                <a:spcPts val="4869"/>
              </a:lnSpc>
              <a:buFont typeface="Arial"/>
              <a:buChar char="⚬"/>
            </a:pPr>
            <a:r>
              <a:rPr lang="en-US" sz="3600" dirty="0">
                <a:latin typeface="Touvlo"/>
                <a:ea typeface="Touvlo"/>
                <a:cs typeface="Touvlo"/>
                <a:sym typeface="Touvlo"/>
              </a:rPr>
              <a:t>AI Automation &gt; Traditional </a:t>
            </a:r>
            <a:r>
              <a:rPr lang="en-US" sz="3600" dirty="0" err="1">
                <a:latin typeface="Touvlo"/>
                <a:ea typeface="Touvlo"/>
                <a:cs typeface="Touvlo"/>
                <a:sym typeface="Touvlo"/>
              </a:rPr>
              <a:t>CCTv</a:t>
            </a:r>
            <a:endParaRPr lang="en-US" sz="3600" dirty="0">
              <a:latin typeface="Touvlo"/>
              <a:ea typeface="Touvlo"/>
              <a:cs typeface="Touvlo"/>
              <a:sym typeface="Touvlo"/>
            </a:endParaRPr>
          </a:p>
          <a:p>
            <a:pPr marL="795114" lvl="2" indent="-265038">
              <a:lnSpc>
                <a:spcPts val="4869"/>
              </a:lnSpc>
              <a:buFont typeface="Arial"/>
              <a:buChar char="⚬"/>
            </a:pPr>
            <a:r>
              <a:rPr lang="en-US" sz="3600" dirty="0">
                <a:latin typeface="Touvlo"/>
                <a:ea typeface="Touvlo"/>
                <a:cs typeface="Touvlo"/>
                <a:sym typeface="Touvlo"/>
              </a:rPr>
              <a:t> Over 80+ event detection like:  </a:t>
            </a:r>
          </a:p>
          <a:p>
            <a:pPr marL="530076" lvl="2">
              <a:lnSpc>
                <a:spcPts val="4869"/>
              </a:lnSpc>
            </a:pPr>
            <a:r>
              <a:rPr lang="en-US" sz="3600" dirty="0">
                <a:latin typeface="Touvlo"/>
                <a:ea typeface="Touvlo"/>
                <a:cs typeface="Touvlo"/>
                <a:sym typeface="Touvlo"/>
              </a:rPr>
              <a:t>     Fire</a:t>
            </a:r>
          </a:p>
          <a:p>
            <a:pPr marL="530076" lvl="2">
              <a:lnSpc>
                <a:spcPts val="4869"/>
              </a:lnSpc>
            </a:pPr>
            <a:r>
              <a:rPr lang="en-US" sz="3600" dirty="0">
                <a:latin typeface="Touvlo"/>
                <a:ea typeface="Touvlo"/>
                <a:cs typeface="Touvlo"/>
                <a:sym typeface="Touvlo"/>
              </a:rPr>
              <a:t>     S</a:t>
            </a:r>
            <a:r>
              <a:rPr lang="en-US" sz="3600" dirty="0"/>
              <a:t>moke</a:t>
            </a:r>
          </a:p>
          <a:p>
            <a:pPr marL="530076" lvl="2">
              <a:lnSpc>
                <a:spcPts val="4869"/>
              </a:lnSpc>
            </a:pPr>
            <a:r>
              <a:rPr lang="en-US" sz="3600" dirty="0"/>
              <a:t>      Accidents</a:t>
            </a:r>
          </a:p>
          <a:p>
            <a:pPr marL="530076" lvl="2">
              <a:lnSpc>
                <a:spcPts val="4869"/>
              </a:lnSpc>
            </a:pPr>
            <a:r>
              <a:rPr lang="en-US" sz="3600" dirty="0"/>
              <a:t>      violations</a:t>
            </a:r>
            <a:endParaRPr lang="en-US" sz="3600" dirty="0">
              <a:latin typeface="Touvlo"/>
              <a:ea typeface="Touvlo"/>
              <a:cs typeface="Touvlo"/>
              <a:sym typeface="Touvlo"/>
            </a:endParaRPr>
          </a:p>
          <a:p>
            <a:pPr marL="795114" lvl="2" indent="-265038">
              <a:lnSpc>
                <a:spcPts val="4869"/>
              </a:lnSpc>
              <a:buFont typeface="Arial"/>
              <a:buChar char="⚬"/>
            </a:pPr>
            <a:r>
              <a:rPr lang="en-US" sz="3600" dirty="0"/>
              <a:t>DEPARTMENTS OF: Traffic, Road safety, Law, Wildlife and Forest, Disaster management, Industries and Factories, Smart City Administrations, General Public and Space organizations.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9FCD9B-3914-47B9-8707-A2DEDF97A2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1" t="30228" r="2779" b="37954"/>
          <a:stretch>
            <a:fillRect/>
          </a:stretch>
        </p:blipFill>
        <p:spPr>
          <a:xfrm>
            <a:off x="9691996" y="4548885"/>
            <a:ext cx="6843404" cy="370455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EB6C032-884E-477D-B75A-75C7DF379093}"/>
              </a:ext>
            </a:extLst>
          </p:cNvPr>
          <p:cNvCxnSpPr>
            <a:cxnSpLocks/>
          </p:cNvCxnSpPr>
          <p:nvPr/>
        </p:nvCxnSpPr>
        <p:spPr>
          <a:xfrm>
            <a:off x="9296400" y="4548886"/>
            <a:ext cx="0" cy="3704556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7868E76-59D7-42FB-C31A-225AD2E81249}"/>
              </a:ext>
            </a:extLst>
          </p:cNvPr>
          <p:cNvSpPr/>
          <p:nvPr/>
        </p:nvSpPr>
        <p:spPr>
          <a:xfrm>
            <a:off x="9706592" y="4547637"/>
            <a:ext cx="6843399" cy="3704556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1FA0E5-9C76-A621-6FC4-3295C0A0CB3B}"/>
              </a:ext>
            </a:extLst>
          </p:cNvPr>
          <p:cNvSpPr/>
          <p:nvPr/>
        </p:nvSpPr>
        <p:spPr>
          <a:xfrm>
            <a:off x="9691997" y="4516768"/>
            <a:ext cx="6901756" cy="3757549"/>
          </a:xfrm>
          <a:prstGeom prst="rect">
            <a:avLst/>
          </a:prstGeom>
          <a:noFill/>
          <a:ln w="76200">
            <a:solidFill>
              <a:srgbClr val="A833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76FC1D-B41F-80F9-C1ED-2495E1DA804F}"/>
              </a:ext>
            </a:extLst>
          </p:cNvPr>
          <p:cNvSpPr/>
          <p:nvPr/>
        </p:nvSpPr>
        <p:spPr>
          <a:xfrm>
            <a:off x="9728477" y="4569762"/>
            <a:ext cx="6843395" cy="3704556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3904" t="-58596" r="-26765" b="-97279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49EBEE-F59A-11F3-6941-F447019301F2}"/>
              </a:ext>
            </a:extLst>
          </p:cNvPr>
          <p:cNvSpPr/>
          <p:nvPr/>
        </p:nvSpPr>
        <p:spPr>
          <a:xfrm>
            <a:off x="9739812" y="4593944"/>
            <a:ext cx="6793966" cy="3662302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0901" t="-81707" r="-12445" b="-61375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5F5C2C9-3B44-30F9-3095-E1070457C556}"/>
              </a:ext>
            </a:extLst>
          </p:cNvPr>
          <p:cNvSpPr/>
          <p:nvPr/>
        </p:nvSpPr>
        <p:spPr>
          <a:xfrm>
            <a:off x="9732522" y="4543584"/>
            <a:ext cx="6861231" cy="3704556"/>
          </a:xfrm>
          <a:prstGeom prst="rect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406" t="-56340" r="-2758" b="-82554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19">
            <a:extLst>
              <a:ext uri="{FF2B5EF4-FFF2-40B4-BE49-F238E27FC236}">
                <a16:creationId xmlns:a16="http://schemas.microsoft.com/office/drawing/2014/main" id="{7EB99AE3-B9C2-56AE-EA1E-2DD58F3CA17C}"/>
              </a:ext>
            </a:extLst>
          </p:cNvPr>
          <p:cNvSpPr txBox="1"/>
          <p:nvPr/>
        </p:nvSpPr>
        <p:spPr>
          <a:xfrm>
            <a:off x="3695698" y="739568"/>
            <a:ext cx="10896601" cy="6027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52"/>
              </a:lnSpc>
            </a:pPr>
            <a:r>
              <a:rPr lang="en-US" sz="4800" dirty="0">
                <a:gradFill>
                  <a:gsLst>
                    <a:gs pos="0">
                      <a:srgbClr val="FD2121">
                        <a:alpha val="100000"/>
                      </a:srgbClr>
                    </a:gs>
                    <a:gs pos="100000">
                      <a:srgbClr val="B30000">
                        <a:alpha val="100000"/>
                      </a:srgbClr>
                    </a:gs>
                  </a:gsLst>
                  <a:lin ang="2700000"/>
                </a:gradFill>
                <a:latin typeface="HK Modular"/>
                <a:ea typeface="HK Modular"/>
                <a:cs typeface="HK Modular"/>
                <a:sym typeface="HK Modular"/>
              </a:rPr>
              <a:t>AI FOR ALL CHALLENGE</a:t>
            </a:r>
          </a:p>
        </p:txBody>
      </p:sp>
    </p:spTree>
    <p:extLst>
      <p:ext uri="{BB962C8B-B14F-4D97-AF65-F5344CB8AC3E}">
        <p14:creationId xmlns:p14="http://schemas.microsoft.com/office/powerpoint/2010/main" val="92783720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3183F-60BD-7D20-C5BA-325B9A615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270967C7-1D1A-7E7B-A5B7-60C2CEAD1BE0}"/>
              </a:ext>
            </a:extLst>
          </p:cNvPr>
          <p:cNvSpPr/>
          <p:nvPr/>
        </p:nvSpPr>
        <p:spPr bwMode="auto">
          <a:xfrm>
            <a:off x="253557" y="228600"/>
            <a:ext cx="17830800" cy="9829800"/>
          </a:xfrm>
          <a:custGeom>
            <a:avLst/>
            <a:gdLst/>
            <a:ahLst/>
            <a:cxnLst/>
            <a:rect l="l" t="t" r="r" b="b"/>
            <a:pathLst>
              <a:path w="4551818" h="2485609">
                <a:moveTo>
                  <a:pt x="0" y="0"/>
                </a:moveTo>
                <a:lnTo>
                  <a:pt x="4551818" y="0"/>
                </a:lnTo>
                <a:lnTo>
                  <a:pt x="4551818" y="2485609"/>
                </a:lnTo>
                <a:lnTo>
                  <a:pt x="0" y="248560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85725" cap="sq">
            <a:solidFill>
              <a:schemeClr val="accent2"/>
            </a:solidFill>
            <a:prstDash val="solid"/>
            <a:miter/>
          </a:ln>
        </p:spPr>
        <p:txBody>
          <a:bodyPr/>
          <a:lstStyle/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  <p:pic>
        <p:nvPicPr>
          <p:cNvPr id="3" name="demo_fire_detection">
            <a:hlinkClick r:id="" action="ppaction://media"/>
            <a:extLst>
              <a:ext uri="{FF2B5EF4-FFF2-40B4-BE49-F238E27FC236}">
                <a16:creationId xmlns:a16="http://schemas.microsoft.com/office/drawing/2014/main" id="{1C9FF548-C1C2-E3A0-64A4-BAAF8C6D7B9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>
            <a:lum contrast="20000"/>
          </a:blip>
          <a:srcRect t="5713" b="45755"/>
          <a:stretch>
            <a:fillRect/>
          </a:stretch>
        </p:blipFill>
        <p:spPr>
          <a:xfrm>
            <a:off x="11445583" y="5829300"/>
            <a:ext cx="6282493" cy="385300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TextBox 7">
            <a:extLst>
              <a:ext uri="{FF2B5EF4-FFF2-40B4-BE49-F238E27FC236}">
                <a16:creationId xmlns:a16="http://schemas.microsoft.com/office/drawing/2014/main" id="{FC93216F-99C7-AD31-9D85-BB6ED719134E}"/>
              </a:ext>
            </a:extLst>
          </p:cNvPr>
          <p:cNvSpPr txBox="1"/>
          <p:nvPr/>
        </p:nvSpPr>
        <p:spPr>
          <a:xfrm>
            <a:off x="7111318" y="598927"/>
            <a:ext cx="4065363" cy="8889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eaLnBrk="1" fontAlgn="auto" hangingPunct="1">
              <a:lnSpc>
                <a:spcPts val="7575"/>
              </a:lnSpc>
              <a:spcAft>
                <a:spcPts val="0"/>
              </a:spcAft>
              <a:defRPr/>
            </a:pPr>
            <a:endParaRPr lang="en-US" sz="5411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Google Shape;217;p2">
            <a:extLst>
              <a:ext uri="{FF2B5EF4-FFF2-40B4-BE49-F238E27FC236}">
                <a16:creationId xmlns:a16="http://schemas.microsoft.com/office/drawing/2014/main" id="{37EAC917-2A4D-7F94-2868-ED629F5F9494}"/>
              </a:ext>
            </a:extLst>
          </p:cNvPr>
          <p:cNvSpPr txBox="1">
            <a:spLocks/>
          </p:cNvSpPr>
          <p:nvPr/>
        </p:nvSpPr>
        <p:spPr>
          <a:xfrm>
            <a:off x="6376783" y="1487888"/>
            <a:ext cx="5534431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 fontScale="8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US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  <a:endParaRPr lang="en-US" b="1" dirty="0"/>
          </a:p>
        </p:txBody>
      </p:sp>
      <p:sp>
        <p:nvSpPr>
          <p:cNvPr id="2" name="TextBox 18">
            <a:extLst>
              <a:ext uri="{FF2B5EF4-FFF2-40B4-BE49-F238E27FC236}">
                <a16:creationId xmlns:a16="http://schemas.microsoft.com/office/drawing/2014/main" id="{34F27137-8BDA-2A19-22DB-7D3DAB2AC8CB}"/>
              </a:ext>
            </a:extLst>
          </p:cNvPr>
          <p:cNvSpPr txBox="1"/>
          <p:nvPr/>
        </p:nvSpPr>
        <p:spPr>
          <a:xfrm>
            <a:off x="-274634" y="3260312"/>
            <a:ext cx="18288000" cy="2846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59584" lvl="2" indent="-586528">
              <a:lnSpc>
                <a:spcPts val="5704"/>
              </a:lnSpc>
              <a:buFont typeface="Arial"/>
              <a:buChar char="⚬"/>
            </a:pPr>
            <a:r>
              <a:rPr lang="en-US" sz="3600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Tech Stack:</a:t>
            </a:r>
          </a:p>
          <a:p>
            <a:pPr marL="1173056" lvl="2">
              <a:lnSpc>
                <a:spcPts val="5704"/>
              </a:lnSpc>
            </a:pPr>
            <a:r>
              <a:rPr lang="en-US" sz="3600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       </a:t>
            </a:r>
            <a:r>
              <a:rPr lang="en-US" sz="3600" u="sng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AI/ML</a:t>
            </a:r>
            <a:r>
              <a:rPr lang="en-US" sz="3600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: Python 3.10, TensorFlow/</a:t>
            </a:r>
            <a:r>
              <a:rPr lang="en-US" sz="3600" dirty="0" err="1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PyTorch</a:t>
            </a:r>
            <a:r>
              <a:rPr lang="en-US" sz="3600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, OpenCV, YOLO, NumPy/Pandas. </a:t>
            </a:r>
          </a:p>
          <a:p>
            <a:pPr marL="1173056" lvl="2">
              <a:lnSpc>
                <a:spcPts val="5704"/>
              </a:lnSpc>
            </a:pPr>
            <a:r>
              <a:rPr lang="en-US" sz="3600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       </a:t>
            </a:r>
            <a:r>
              <a:rPr lang="en-US" sz="3600" u="sng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Backend</a:t>
            </a:r>
            <a:r>
              <a:rPr lang="en-US" sz="3600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: FastAPI/Flask.  Deployment: Render/Railway + GitHub Pages.</a:t>
            </a:r>
          </a:p>
          <a:p>
            <a:pPr marL="1759584" lvl="2" indent="-586528">
              <a:lnSpc>
                <a:spcPts val="5704"/>
              </a:lnSpc>
              <a:buFont typeface="Arial"/>
              <a:buChar char="⚬"/>
            </a:pPr>
            <a:r>
              <a:rPr lang="en-US" sz="3600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System Flow: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E02CA30-1083-2B76-D26F-90382264E949}"/>
              </a:ext>
            </a:extLst>
          </p:cNvPr>
          <p:cNvSpPr/>
          <p:nvPr/>
        </p:nvSpPr>
        <p:spPr>
          <a:xfrm>
            <a:off x="1523999" y="6257204"/>
            <a:ext cx="2895600" cy="860232"/>
          </a:xfrm>
          <a:prstGeom prst="roundRect">
            <a:avLst/>
          </a:prstGeom>
          <a:noFill/>
          <a:ln w="57150">
            <a:solidFill>
              <a:srgbClr val="A833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r>
              <a:rPr lang="en-US" sz="3200" b="1" dirty="0">
                <a:solidFill>
                  <a:schemeClr val="tx1"/>
                </a:solidFill>
              </a:rPr>
              <a:t>Camera feed</a:t>
            </a:r>
          </a:p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B6D93C3-D7BD-A888-979F-032C09C9339A}"/>
              </a:ext>
            </a:extLst>
          </p:cNvPr>
          <p:cNvSpPr/>
          <p:nvPr/>
        </p:nvSpPr>
        <p:spPr>
          <a:xfrm>
            <a:off x="11445583" y="5829300"/>
            <a:ext cx="6282493" cy="3853001"/>
          </a:xfrm>
          <a:prstGeom prst="rect">
            <a:avLst/>
          </a:prstGeom>
          <a:noFill/>
          <a:ln w="76200">
            <a:solidFill>
              <a:srgbClr val="A833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6535626-74F8-78A8-9A63-CA1B56D02F84}"/>
              </a:ext>
            </a:extLst>
          </p:cNvPr>
          <p:cNvSpPr/>
          <p:nvPr/>
        </p:nvSpPr>
        <p:spPr>
          <a:xfrm>
            <a:off x="1523999" y="7540989"/>
            <a:ext cx="2895600" cy="860232"/>
          </a:xfrm>
          <a:prstGeom prst="roundRect">
            <a:avLst/>
          </a:prstGeom>
          <a:noFill/>
          <a:ln w="57150">
            <a:solidFill>
              <a:srgbClr val="A833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83D63CC-540F-986E-0759-58B9168920A9}"/>
              </a:ext>
            </a:extLst>
          </p:cNvPr>
          <p:cNvSpPr/>
          <p:nvPr/>
        </p:nvSpPr>
        <p:spPr>
          <a:xfrm>
            <a:off x="1523999" y="8798883"/>
            <a:ext cx="2895600" cy="860232"/>
          </a:xfrm>
          <a:prstGeom prst="roundRect">
            <a:avLst/>
          </a:prstGeom>
          <a:noFill/>
          <a:ln w="57150">
            <a:solidFill>
              <a:srgbClr val="A833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32D1C55-81B6-0305-7CD9-3E5FB343D9A7}"/>
              </a:ext>
            </a:extLst>
          </p:cNvPr>
          <p:cNvSpPr/>
          <p:nvPr/>
        </p:nvSpPr>
        <p:spPr>
          <a:xfrm>
            <a:off x="4922833" y="6256393"/>
            <a:ext cx="2895600" cy="860232"/>
          </a:xfrm>
          <a:prstGeom prst="roundRect">
            <a:avLst/>
          </a:prstGeom>
          <a:noFill/>
          <a:ln w="57150">
            <a:solidFill>
              <a:srgbClr val="A833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250D85E-7D86-0475-90E2-1A06B98C055E}"/>
              </a:ext>
            </a:extLst>
          </p:cNvPr>
          <p:cNvSpPr/>
          <p:nvPr/>
        </p:nvSpPr>
        <p:spPr>
          <a:xfrm>
            <a:off x="4884449" y="7527638"/>
            <a:ext cx="2895600" cy="860232"/>
          </a:xfrm>
          <a:prstGeom prst="roundRect">
            <a:avLst/>
          </a:prstGeom>
          <a:noFill/>
          <a:ln w="57150">
            <a:solidFill>
              <a:srgbClr val="A833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E452FED-BF5D-7C42-88E2-F2FDD222C91B}"/>
              </a:ext>
            </a:extLst>
          </p:cNvPr>
          <p:cNvSpPr/>
          <p:nvPr/>
        </p:nvSpPr>
        <p:spPr>
          <a:xfrm>
            <a:off x="4945147" y="8798883"/>
            <a:ext cx="2895600" cy="860232"/>
          </a:xfrm>
          <a:prstGeom prst="roundRect">
            <a:avLst/>
          </a:prstGeom>
          <a:noFill/>
          <a:ln w="57150">
            <a:solidFill>
              <a:srgbClr val="A833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77D0EBD-D525-B36D-D1C7-154F3A8AC860}"/>
              </a:ext>
            </a:extLst>
          </p:cNvPr>
          <p:cNvSpPr/>
          <p:nvPr/>
        </p:nvSpPr>
        <p:spPr>
          <a:xfrm>
            <a:off x="8233929" y="6476103"/>
            <a:ext cx="2895600" cy="860232"/>
          </a:xfrm>
          <a:prstGeom prst="roundRect">
            <a:avLst/>
          </a:prstGeom>
          <a:noFill/>
          <a:ln w="57150">
            <a:solidFill>
              <a:srgbClr val="A833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20F5571-54A1-96B7-92E6-7D267153FE4F}"/>
              </a:ext>
            </a:extLst>
          </p:cNvPr>
          <p:cNvSpPr txBox="1"/>
          <p:nvPr/>
        </p:nvSpPr>
        <p:spPr>
          <a:xfrm>
            <a:off x="1790699" y="7481970"/>
            <a:ext cx="2362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AI Detection model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5B60E4E-9C1F-58C3-0E92-1C2A5C22FEA3}"/>
              </a:ext>
            </a:extLst>
          </p:cNvPr>
          <p:cNvSpPr txBox="1"/>
          <p:nvPr/>
        </p:nvSpPr>
        <p:spPr>
          <a:xfrm>
            <a:off x="1579327" y="8751945"/>
            <a:ext cx="28402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Event Classification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BE7D17F-395C-00B8-9A1E-507489D47EC3}"/>
              </a:ext>
            </a:extLst>
          </p:cNvPr>
          <p:cNvSpPr txBox="1"/>
          <p:nvPr/>
        </p:nvSpPr>
        <p:spPr>
          <a:xfrm>
            <a:off x="5107289" y="6438900"/>
            <a:ext cx="25984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Alert Generator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EBFC0F5-5ACF-157F-4971-265214614D5E}"/>
              </a:ext>
            </a:extLst>
          </p:cNvPr>
          <p:cNvSpPr txBox="1"/>
          <p:nvPr/>
        </p:nvSpPr>
        <p:spPr>
          <a:xfrm>
            <a:off x="5341933" y="7696144"/>
            <a:ext cx="205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API Backend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6E86D15-2257-3BC4-8A35-DDEBA73C9712}"/>
              </a:ext>
            </a:extLst>
          </p:cNvPr>
          <p:cNvSpPr txBox="1"/>
          <p:nvPr/>
        </p:nvSpPr>
        <p:spPr>
          <a:xfrm>
            <a:off x="5450188" y="8967389"/>
            <a:ext cx="2255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Dashboard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0265ECF-B692-C858-94E3-1947E073C26C}"/>
              </a:ext>
            </a:extLst>
          </p:cNvPr>
          <p:cNvSpPr txBox="1"/>
          <p:nvPr/>
        </p:nvSpPr>
        <p:spPr>
          <a:xfrm>
            <a:off x="8393841" y="6638073"/>
            <a:ext cx="26954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User Notification</a:t>
            </a:r>
          </a:p>
        </p:txBody>
      </p:sp>
      <p:cxnSp>
        <p:nvCxnSpPr>
          <p:cNvPr id="66" name="Connector: Curved 65">
            <a:extLst>
              <a:ext uri="{FF2B5EF4-FFF2-40B4-BE49-F238E27FC236}">
                <a16:creationId xmlns:a16="http://schemas.microsoft.com/office/drawing/2014/main" id="{EC3DE6F4-0B8B-3325-248A-B647BB638A4E}"/>
              </a:ext>
            </a:extLst>
          </p:cNvPr>
          <p:cNvCxnSpPr>
            <a:cxnSpLocks/>
            <a:stCxn id="8" idx="1"/>
            <a:endCxn id="25" idx="1"/>
          </p:cNvCxnSpPr>
          <p:nvPr/>
        </p:nvCxnSpPr>
        <p:spPr>
          <a:xfrm rot="10800000" flipV="1">
            <a:off x="1523999" y="6687319"/>
            <a:ext cx="12700" cy="1283785"/>
          </a:xfrm>
          <a:prstGeom prst="curvedConnector3">
            <a:avLst>
              <a:gd name="adj1" fmla="val 1800000"/>
            </a:avLst>
          </a:prstGeom>
          <a:ln w="76200">
            <a:solidFill>
              <a:srgbClr val="A8333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Curved 67">
            <a:extLst>
              <a:ext uri="{FF2B5EF4-FFF2-40B4-BE49-F238E27FC236}">
                <a16:creationId xmlns:a16="http://schemas.microsoft.com/office/drawing/2014/main" id="{C09878C8-7946-369F-B7F2-052285E25CD5}"/>
              </a:ext>
            </a:extLst>
          </p:cNvPr>
          <p:cNvCxnSpPr>
            <a:cxnSpLocks/>
          </p:cNvCxnSpPr>
          <p:nvPr/>
        </p:nvCxnSpPr>
        <p:spPr>
          <a:xfrm rot="10800000" flipV="1">
            <a:off x="1520254" y="8219364"/>
            <a:ext cx="12700" cy="1283785"/>
          </a:xfrm>
          <a:prstGeom prst="curvedConnector3">
            <a:avLst>
              <a:gd name="adj1" fmla="val 1800000"/>
            </a:avLst>
          </a:prstGeom>
          <a:ln w="76200">
            <a:solidFill>
              <a:srgbClr val="A8333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Curved 69">
            <a:extLst>
              <a:ext uri="{FF2B5EF4-FFF2-40B4-BE49-F238E27FC236}">
                <a16:creationId xmlns:a16="http://schemas.microsoft.com/office/drawing/2014/main" id="{30F43F1B-EB02-4F83-8F56-4662244745AD}"/>
              </a:ext>
            </a:extLst>
          </p:cNvPr>
          <p:cNvCxnSpPr>
            <a:cxnSpLocks/>
            <a:stCxn id="26" idx="3"/>
            <a:endCxn id="27" idx="1"/>
          </p:cNvCxnSpPr>
          <p:nvPr/>
        </p:nvCxnSpPr>
        <p:spPr>
          <a:xfrm flipV="1">
            <a:off x="4419599" y="6686509"/>
            <a:ext cx="503234" cy="2542490"/>
          </a:xfrm>
          <a:prstGeom prst="curvedConnector3">
            <a:avLst/>
          </a:prstGeom>
          <a:ln w="76200">
            <a:solidFill>
              <a:srgbClr val="A8333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Curved 72">
            <a:extLst>
              <a:ext uri="{FF2B5EF4-FFF2-40B4-BE49-F238E27FC236}">
                <a16:creationId xmlns:a16="http://schemas.microsoft.com/office/drawing/2014/main" id="{F7E737C0-1ABE-C5C2-635F-0B7023960C45}"/>
              </a:ext>
            </a:extLst>
          </p:cNvPr>
          <p:cNvCxnSpPr>
            <a:cxnSpLocks/>
          </p:cNvCxnSpPr>
          <p:nvPr/>
        </p:nvCxnSpPr>
        <p:spPr>
          <a:xfrm rot="10800000" flipV="1">
            <a:off x="7804139" y="6810819"/>
            <a:ext cx="12700" cy="1283785"/>
          </a:xfrm>
          <a:prstGeom prst="curvedConnector3">
            <a:avLst>
              <a:gd name="adj1" fmla="val -2182976"/>
            </a:avLst>
          </a:prstGeom>
          <a:ln w="76200">
            <a:solidFill>
              <a:srgbClr val="A8333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Curved 74">
            <a:extLst>
              <a:ext uri="{FF2B5EF4-FFF2-40B4-BE49-F238E27FC236}">
                <a16:creationId xmlns:a16="http://schemas.microsoft.com/office/drawing/2014/main" id="{7C920177-24A6-DEC3-D196-790F9D4611DF}"/>
              </a:ext>
            </a:extLst>
          </p:cNvPr>
          <p:cNvCxnSpPr>
            <a:cxnSpLocks/>
          </p:cNvCxnSpPr>
          <p:nvPr/>
        </p:nvCxnSpPr>
        <p:spPr>
          <a:xfrm rot="10800000" flipV="1">
            <a:off x="7804139" y="8169478"/>
            <a:ext cx="12700" cy="1283785"/>
          </a:xfrm>
          <a:prstGeom prst="curvedConnector3">
            <a:avLst>
              <a:gd name="adj1" fmla="val -2642551"/>
            </a:avLst>
          </a:prstGeom>
          <a:ln w="76200">
            <a:solidFill>
              <a:srgbClr val="A8333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: Curved 104">
            <a:extLst>
              <a:ext uri="{FF2B5EF4-FFF2-40B4-BE49-F238E27FC236}">
                <a16:creationId xmlns:a16="http://schemas.microsoft.com/office/drawing/2014/main" id="{B3650E42-49D3-A80F-B79C-9BA0E5D4CCBA}"/>
              </a:ext>
            </a:extLst>
          </p:cNvPr>
          <p:cNvCxnSpPr>
            <a:cxnSpLocks/>
          </p:cNvCxnSpPr>
          <p:nvPr/>
        </p:nvCxnSpPr>
        <p:spPr>
          <a:xfrm flipV="1">
            <a:off x="7839135" y="7331683"/>
            <a:ext cx="1815984" cy="2112374"/>
          </a:xfrm>
          <a:prstGeom prst="curvedConnector2">
            <a:avLst/>
          </a:prstGeom>
          <a:ln w="76200">
            <a:solidFill>
              <a:srgbClr val="A8333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42C1466-98DB-4CE7-233C-64D09B56F6A2}"/>
              </a:ext>
            </a:extLst>
          </p:cNvPr>
          <p:cNvSpPr/>
          <p:nvPr/>
        </p:nvSpPr>
        <p:spPr>
          <a:xfrm>
            <a:off x="1304096" y="5346346"/>
            <a:ext cx="2870198" cy="8602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44BC4DF-B44C-059D-25E3-33EB4E4599A2}"/>
              </a:ext>
            </a:extLst>
          </p:cNvPr>
          <p:cNvSpPr txBox="1"/>
          <p:nvPr/>
        </p:nvSpPr>
        <p:spPr>
          <a:xfrm>
            <a:off x="1352964" y="5535350"/>
            <a:ext cx="34902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0000"/>
                </a:solidFill>
                <a:latin typeface="Touvlo"/>
                <a:cs typeface="Touvlo"/>
                <a:sym typeface="Touvlo"/>
              </a:rPr>
              <a:t>System Flow:</a:t>
            </a:r>
            <a:r>
              <a:rPr lang="en-US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:</a:t>
            </a:r>
          </a:p>
          <a:p>
            <a:endParaRPr lang="en-US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B5CE256C-B02E-55FB-146F-D93C00417B5C}"/>
              </a:ext>
            </a:extLst>
          </p:cNvPr>
          <p:cNvSpPr txBox="1"/>
          <p:nvPr/>
        </p:nvSpPr>
        <p:spPr>
          <a:xfrm>
            <a:off x="1360062" y="5541651"/>
            <a:ext cx="3132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0000"/>
                </a:solidFill>
                <a:latin typeface="Touvlo"/>
                <a:cs typeface="Touvlo"/>
              </a:rPr>
              <a:t>Workflow</a:t>
            </a:r>
            <a:r>
              <a:rPr lang="en-US" dirty="0"/>
              <a:t>: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C9C75A92-E7C2-74F9-B4DF-427D9EA8E1A1}"/>
              </a:ext>
            </a:extLst>
          </p:cNvPr>
          <p:cNvSpPr/>
          <p:nvPr/>
        </p:nvSpPr>
        <p:spPr>
          <a:xfrm>
            <a:off x="1155903" y="6106540"/>
            <a:ext cx="10033681" cy="35995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434C9338-88CD-DE84-9A92-F4FEBC4D4962}"/>
              </a:ext>
            </a:extLst>
          </p:cNvPr>
          <p:cNvSpPr/>
          <p:nvPr/>
        </p:nvSpPr>
        <p:spPr>
          <a:xfrm>
            <a:off x="1523999" y="6253516"/>
            <a:ext cx="2895600" cy="860232"/>
          </a:xfrm>
          <a:prstGeom prst="roundRect">
            <a:avLst/>
          </a:prstGeom>
          <a:noFill/>
          <a:ln w="57150">
            <a:solidFill>
              <a:srgbClr val="A833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FDE195DE-7835-FABF-04C1-AD5ED9D01150}"/>
              </a:ext>
            </a:extLst>
          </p:cNvPr>
          <p:cNvSpPr/>
          <p:nvPr/>
        </p:nvSpPr>
        <p:spPr>
          <a:xfrm>
            <a:off x="734438" y="7585366"/>
            <a:ext cx="2895600" cy="860232"/>
          </a:xfrm>
          <a:prstGeom prst="roundRect">
            <a:avLst/>
          </a:prstGeom>
          <a:noFill/>
          <a:ln w="57150">
            <a:solidFill>
              <a:srgbClr val="A833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D334716B-6A59-8475-E3E1-82855419DB07}"/>
              </a:ext>
            </a:extLst>
          </p:cNvPr>
          <p:cNvSpPr/>
          <p:nvPr/>
        </p:nvSpPr>
        <p:spPr>
          <a:xfrm>
            <a:off x="1666644" y="8926784"/>
            <a:ext cx="2895600" cy="860232"/>
          </a:xfrm>
          <a:prstGeom prst="roundRect">
            <a:avLst/>
          </a:prstGeom>
          <a:noFill/>
          <a:ln w="57150">
            <a:solidFill>
              <a:srgbClr val="A833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19884DE6-E879-F410-F340-D03F4842FBCA}"/>
              </a:ext>
            </a:extLst>
          </p:cNvPr>
          <p:cNvSpPr/>
          <p:nvPr/>
        </p:nvSpPr>
        <p:spPr>
          <a:xfrm>
            <a:off x="5498241" y="8938431"/>
            <a:ext cx="2895600" cy="860232"/>
          </a:xfrm>
          <a:prstGeom prst="roundRect">
            <a:avLst/>
          </a:prstGeom>
          <a:noFill/>
          <a:ln w="57150">
            <a:solidFill>
              <a:srgbClr val="A833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965BF2D4-E366-9273-30B7-45F5AB636802}"/>
              </a:ext>
            </a:extLst>
          </p:cNvPr>
          <p:cNvSpPr/>
          <p:nvPr/>
        </p:nvSpPr>
        <p:spPr>
          <a:xfrm>
            <a:off x="5338329" y="6286582"/>
            <a:ext cx="2895600" cy="860232"/>
          </a:xfrm>
          <a:prstGeom prst="roundRect">
            <a:avLst/>
          </a:prstGeom>
          <a:noFill/>
          <a:ln w="57150">
            <a:solidFill>
              <a:srgbClr val="A833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0392A2EC-3FAC-579E-6C14-0001776BDC37}"/>
              </a:ext>
            </a:extLst>
          </p:cNvPr>
          <p:cNvSpPr/>
          <p:nvPr/>
        </p:nvSpPr>
        <p:spPr>
          <a:xfrm>
            <a:off x="6172743" y="7540989"/>
            <a:ext cx="2895600" cy="860232"/>
          </a:xfrm>
          <a:prstGeom prst="roundRect">
            <a:avLst/>
          </a:prstGeom>
          <a:noFill/>
          <a:ln w="57150">
            <a:solidFill>
              <a:srgbClr val="A833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D7FF5C76-FE46-4A4B-3882-F853B0A1F231}"/>
              </a:ext>
            </a:extLst>
          </p:cNvPr>
          <p:cNvSpPr txBox="1"/>
          <p:nvPr/>
        </p:nvSpPr>
        <p:spPr>
          <a:xfrm>
            <a:off x="1532524" y="6237411"/>
            <a:ext cx="27833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Capture live video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6581940-6D79-234B-7105-FCA48ED54A46}"/>
              </a:ext>
            </a:extLst>
          </p:cNvPr>
          <p:cNvSpPr txBox="1"/>
          <p:nvPr/>
        </p:nvSpPr>
        <p:spPr>
          <a:xfrm>
            <a:off x="815516" y="7573392"/>
            <a:ext cx="26394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AI detects events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B99D0B0-D86F-11CD-6FF9-D1A51DDC2F8E}"/>
              </a:ext>
            </a:extLst>
          </p:cNvPr>
          <p:cNvSpPr txBox="1"/>
          <p:nvPr/>
        </p:nvSpPr>
        <p:spPr>
          <a:xfrm>
            <a:off x="1921915" y="9111804"/>
            <a:ext cx="2732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Classify event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18DE58B-5FFA-84FB-3028-3B1C2DD23889}"/>
              </a:ext>
            </a:extLst>
          </p:cNvPr>
          <p:cNvSpPr txBox="1"/>
          <p:nvPr/>
        </p:nvSpPr>
        <p:spPr>
          <a:xfrm>
            <a:off x="5395883" y="6222230"/>
            <a:ext cx="28240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User gets notification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CDBAA58-D04C-F362-2C06-5A429CF4E5E3}"/>
              </a:ext>
            </a:extLst>
          </p:cNvPr>
          <p:cNvSpPr txBox="1"/>
          <p:nvPr/>
        </p:nvSpPr>
        <p:spPr>
          <a:xfrm>
            <a:off x="6436807" y="7514287"/>
            <a:ext cx="22340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Dashboard instant alerts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0DE51B05-38DC-487F-3DB1-98E4FDFF8837}"/>
              </a:ext>
            </a:extLst>
          </p:cNvPr>
          <p:cNvSpPr txBox="1"/>
          <p:nvPr/>
        </p:nvSpPr>
        <p:spPr>
          <a:xfrm>
            <a:off x="5602252" y="8904263"/>
            <a:ext cx="27254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Alert (JSON) Backend</a:t>
            </a:r>
          </a:p>
        </p:txBody>
      </p:sp>
      <p:cxnSp>
        <p:nvCxnSpPr>
          <p:cNvPr id="155" name="Connector: Curved 154">
            <a:extLst>
              <a:ext uri="{FF2B5EF4-FFF2-40B4-BE49-F238E27FC236}">
                <a16:creationId xmlns:a16="http://schemas.microsoft.com/office/drawing/2014/main" id="{293D4458-8449-2A06-68F6-BB98A2CE2BC6}"/>
              </a:ext>
            </a:extLst>
          </p:cNvPr>
          <p:cNvCxnSpPr>
            <a:cxnSpLocks/>
            <a:stCxn id="127" idx="1"/>
          </p:cNvCxnSpPr>
          <p:nvPr/>
        </p:nvCxnSpPr>
        <p:spPr>
          <a:xfrm rot="10800000" flipV="1">
            <a:off x="732308" y="6714464"/>
            <a:ext cx="800216" cy="1048243"/>
          </a:xfrm>
          <a:prstGeom prst="curvedConnector2">
            <a:avLst/>
          </a:prstGeom>
          <a:ln w="762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: Curved 157">
            <a:extLst>
              <a:ext uri="{FF2B5EF4-FFF2-40B4-BE49-F238E27FC236}">
                <a16:creationId xmlns:a16="http://schemas.microsoft.com/office/drawing/2014/main" id="{6A4BA6D6-C19C-3F30-D8DB-F430061F56C8}"/>
              </a:ext>
            </a:extLst>
          </p:cNvPr>
          <p:cNvCxnSpPr>
            <a:cxnSpLocks/>
            <a:endCxn id="123" idx="1"/>
          </p:cNvCxnSpPr>
          <p:nvPr/>
        </p:nvCxnSpPr>
        <p:spPr>
          <a:xfrm rot="16200000" flipH="1">
            <a:off x="474174" y="8164430"/>
            <a:ext cx="1450604" cy="934336"/>
          </a:xfrm>
          <a:prstGeom prst="curvedConnector2">
            <a:avLst/>
          </a:prstGeom>
          <a:ln w="762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7F427D32-52ED-02CB-A55F-3050004E0928}"/>
              </a:ext>
            </a:extLst>
          </p:cNvPr>
          <p:cNvCxnSpPr>
            <a:cxnSpLocks/>
            <a:stCxn id="129" idx="3"/>
            <a:endCxn id="124" idx="1"/>
          </p:cNvCxnSpPr>
          <p:nvPr/>
        </p:nvCxnSpPr>
        <p:spPr>
          <a:xfrm flipV="1">
            <a:off x="4654472" y="9368547"/>
            <a:ext cx="843769" cy="4867"/>
          </a:xfrm>
          <a:prstGeom prst="straightConnector1">
            <a:avLst/>
          </a:prstGeom>
          <a:ln w="762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: Curved 165">
            <a:extLst>
              <a:ext uri="{FF2B5EF4-FFF2-40B4-BE49-F238E27FC236}">
                <a16:creationId xmlns:a16="http://schemas.microsoft.com/office/drawing/2014/main" id="{CABE0F5F-BBDA-9ECB-4C93-453B99D22A43}"/>
              </a:ext>
            </a:extLst>
          </p:cNvPr>
          <p:cNvCxnSpPr>
            <a:cxnSpLocks/>
            <a:stCxn id="124" idx="3"/>
          </p:cNvCxnSpPr>
          <p:nvPr/>
        </p:nvCxnSpPr>
        <p:spPr>
          <a:xfrm flipV="1">
            <a:off x="8393841" y="7924034"/>
            <a:ext cx="751495" cy="1444513"/>
          </a:xfrm>
          <a:prstGeom prst="curvedConnector2">
            <a:avLst/>
          </a:prstGeom>
          <a:ln w="762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: Curved 168">
            <a:extLst>
              <a:ext uri="{FF2B5EF4-FFF2-40B4-BE49-F238E27FC236}">
                <a16:creationId xmlns:a16="http://schemas.microsoft.com/office/drawing/2014/main" id="{1B455F9E-75A6-38A6-7B2B-F59ECE724D37}"/>
              </a:ext>
            </a:extLst>
          </p:cNvPr>
          <p:cNvCxnSpPr>
            <a:cxnSpLocks/>
            <a:endCxn id="130" idx="3"/>
          </p:cNvCxnSpPr>
          <p:nvPr/>
        </p:nvCxnSpPr>
        <p:spPr>
          <a:xfrm rot="16200000" flipV="1">
            <a:off x="8033098" y="6886106"/>
            <a:ext cx="1208060" cy="834415"/>
          </a:xfrm>
          <a:prstGeom prst="curvedConnector2">
            <a:avLst/>
          </a:prstGeom>
          <a:ln w="762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70CC7FA4-44CC-964F-7B67-4DF1ED0B41F7}"/>
              </a:ext>
            </a:extLst>
          </p:cNvPr>
          <p:cNvCxnSpPr>
            <a:cxnSpLocks/>
          </p:cNvCxnSpPr>
          <p:nvPr/>
        </p:nvCxnSpPr>
        <p:spPr>
          <a:xfrm>
            <a:off x="8233929" y="6638073"/>
            <a:ext cx="3186695" cy="20501"/>
          </a:xfrm>
          <a:prstGeom prst="straightConnector1">
            <a:avLst/>
          </a:prstGeom>
          <a:ln w="762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19">
            <a:extLst>
              <a:ext uri="{FF2B5EF4-FFF2-40B4-BE49-F238E27FC236}">
                <a16:creationId xmlns:a16="http://schemas.microsoft.com/office/drawing/2014/main" id="{3CB020F7-CE99-49F4-159B-84BC8EC49FCD}"/>
              </a:ext>
            </a:extLst>
          </p:cNvPr>
          <p:cNvSpPr txBox="1"/>
          <p:nvPr/>
        </p:nvSpPr>
        <p:spPr>
          <a:xfrm>
            <a:off x="3695698" y="739568"/>
            <a:ext cx="10896601" cy="6027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52"/>
              </a:lnSpc>
            </a:pPr>
            <a:r>
              <a:rPr lang="en-US" sz="4800" dirty="0">
                <a:gradFill>
                  <a:gsLst>
                    <a:gs pos="0">
                      <a:srgbClr val="FD2121">
                        <a:alpha val="100000"/>
                      </a:srgbClr>
                    </a:gs>
                    <a:gs pos="100000">
                      <a:srgbClr val="B30000">
                        <a:alpha val="100000"/>
                      </a:srgbClr>
                    </a:gs>
                  </a:gsLst>
                  <a:lin ang="2700000"/>
                </a:gradFill>
                <a:latin typeface="HK Modular"/>
                <a:ea typeface="HK Modular"/>
                <a:cs typeface="HK Modular"/>
                <a:sym typeface="HK Modular"/>
              </a:rPr>
              <a:t>AI FOR ALL CHALLENGE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E241B9C-EE60-9916-CDD6-832C7F849C2B}"/>
              </a:ext>
            </a:extLst>
          </p:cNvPr>
          <p:cNvSpPr/>
          <p:nvPr/>
        </p:nvSpPr>
        <p:spPr>
          <a:xfrm>
            <a:off x="16535400" y="458799"/>
            <a:ext cx="1233208" cy="1233208"/>
          </a:xfrm>
          <a:prstGeom prst="ellipse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499071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500"/>
                            </p:stCondLst>
                            <p:childTnLst>
                              <p:par>
                                <p:cTn id="9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00"/>
                            </p:stCondLst>
                            <p:childTnLst>
                              <p:par>
                                <p:cTn id="9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5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3000"/>
                            </p:stCondLst>
                            <p:childTnLst>
                              <p:par>
                                <p:cTn id="10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6" dur="1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>
                <p:cTn id="10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  <p:bldLst>
      <p:bldP spid="111" grpId="0"/>
      <p:bldP spid="112" grpId="0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/>
      <p:bldP spid="128" grpId="0"/>
      <p:bldP spid="129" grpId="0"/>
      <p:bldP spid="130" grpId="0"/>
      <p:bldP spid="131" grpId="0"/>
      <p:bldP spid="1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A633A-0E8F-A0AC-25D8-A9F4E6048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594D13F8-1CDD-7E82-DA32-B7D1771E8CA0}"/>
              </a:ext>
            </a:extLst>
          </p:cNvPr>
          <p:cNvSpPr/>
          <p:nvPr/>
        </p:nvSpPr>
        <p:spPr bwMode="auto">
          <a:xfrm>
            <a:off x="228600" y="228600"/>
            <a:ext cx="17830800" cy="9829800"/>
          </a:xfrm>
          <a:custGeom>
            <a:avLst/>
            <a:gdLst/>
            <a:ahLst/>
            <a:cxnLst/>
            <a:rect l="l" t="t" r="r" b="b"/>
            <a:pathLst>
              <a:path w="4551818" h="2485609">
                <a:moveTo>
                  <a:pt x="0" y="0"/>
                </a:moveTo>
                <a:lnTo>
                  <a:pt x="4551818" y="0"/>
                </a:lnTo>
                <a:lnTo>
                  <a:pt x="4551818" y="2485609"/>
                </a:lnTo>
                <a:lnTo>
                  <a:pt x="0" y="248560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85725" cap="sq">
            <a:solidFill>
              <a:schemeClr val="accent2"/>
            </a:solidFill>
            <a:prstDash val="solid"/>
            <a:miter/>
          </a:ln>
        </p:spPr>
        <p:txBody>
          <a:bodyPr/>
          <a:lstStyle/>
          <a:p>
            <a:endParaRPr lang="en-US" dirty="0">
              <a:effectLst/>
            </a:endParaRP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F5D288D3-FF1D-9A8E-6630-D894BBA7D324}"/>
              </a:ext>
            </a:extLst>
          </p:cNvPr>
          <p:cNvSpPr txBox="1"/>
          <p:nvPr/>
        </p:nvSpPr>
        <p:spPr>
          <a:xfrm>
            <a:off x="7111318" y="598927"/>
            <a:ext cx="4065363" cy="8889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eaLnBrk="1" fontAlgn="auto" hangingPunct="1">
              <a:lnSpc>
                <a:spcPts val="7575"/>
              </a:lnSpc>
              <a:spcAft>
                <a:spcPts val="0"/>
              </a:spcAft>
              <a:defRPr/>
            </a:pPr>
            <a:endParaRPr lang="en-US" sz="5411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Google Shape;217;p2">
            <a:extLst>
              <a:ext uri="{FF2B5EF4-FFF2-40B4-BE49-F238E27FC236}">
                <a16:creationId xmlns:a16="http://schemas.microsoft.com/office/drawing/2014/main" id="{0EF2A107-5FB1-0220-0D60-CB2F24AE9E8E}"/>
              </a:ext>
            </a:extLst>
          </p:cNvPr>
          <p:cNvSpPr txBox="1">
            <a:spLocks/>
          </p:cNvSpPr>
          <p:nvPr/>
        </p:nvSpPr>
        <p:spPr>
          <a:xfrm>
            <a:off x="5855392" y="1487888"/>
            <a:ext cx="6577214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  <a:endParaRPr lang="en-US" sz="3600" b="1" dirty="0"/>
          </a:p>
        </p:txBody>
      </p:sp>
      <p:sp>
        <p:nvSpPr>
          <p:cNvPr id="2" name="TextBox 18">
            <a:extLst>
              <a:ext uri="{FF2B5EF4-FFF2-40B4-BE49-F238E27FC236}">
                <a16:creationId xmlns:a16="http://schemas.microsoft.com/office/drawing/2014/main" id="{BA632670-5F5F-4C08-54B2-D8CAE4C3F736}"/>
              </a:ext>
            </a:extLst>
          </p:cNvPr>
          <p:cNvSpPr txBox="1"/>
          <p:nvPr/>
        </p:nvSpPr>
        <p:spPr>
          <a:xfrm>
            <a:off x="0" y="2758657"/>
            <a:ext cx="17768608" cy="724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59584" lvl="2" indent="-586528">
              <a:lnSpc>
                <a:spcPts val="5704"/>
              </a:lnSpc>
              <a:buFont typeface="Arial"/>
              <a:buChar char="⚬"/>
            </a:pPr>
            <a:r>
              <a:rPr lang="en-US" sz="3600" b="1" dirty="0"/>
              <a:t>Public Safety:</a:t>
            </a:r>
            <a:r>
              <a:rPr lang="en-US" sz="3600" dirty="0"/>
              <a:t> Instant detection of accidents, fire, and hazards</a:t>
            </a:r>
          </a:p>
          <a:p>
            <a:pPr marL="1759584" lvl="2" indent="-586528">
              <a:lnSpc>
                <a:spcPts val="5704"/>
              </a:lnSpc>
              <a:buFont typeface="Arial"/>
              <a:buChar char="⚬"/>
            </a:pPr>
            <a:r>
              <a:rPr lang="en-US" sz="3600" b="1" dirty="0"/>
              <a:t>Government &amp; Police:</a:t>
            </a:r>
            <a:r>
              <a:rPr lang="en-US" sz="3600" dirty="0"/>
              <a:t> Cuts manpower load, reduces corruption, ensures unbiased automated monitoring.</a:t>
            </a:r>
          </a:p>
          <a:p>
            <a:pPr marL="1759584" lvl="2" indent="-586528">
              <a:lnSpc>
                <a:spcPts val="5704"/>
              </a:lnSpc>
              <a:buFont typeface="Arial"/>
              <a:buChar char="⚬"/>
            </a:pPr>
            <a:r>
              <a:rPr lang="en-US" sz="3600" b="1" dirty="0"/>
              <a:t>Forests &amp; Wildlife:</a:t>
            </a:r>
            <a:r>
              <a:rPr lang="en-US" sz="3600" dirty="0"/>
              <a:t> Early fire alerts, better wildlife tracking, reduced illegal activities.</a:t>
            </a:r>
          </a:p>
          <a:p>
            <a:pPr marL="1759584" lvl="2" indent="-586528">
              <a:lnSpc>
                <a:spcPts val="5704"/>
              </a:lnSpc>
              <a:buFont typeface="Arial"/>
              <a:buChar char="⚬"/>
            </a:pPr>
            <a:r>
              <a:rPr lang="en-US" sz="3600" b="1" dirty="0"/>
              <a:t>Industries &amp; Smart Cities:</a:t>
            </a:r>
            <a:r>
              <a:rPr lang="en-US" sz="3600" dirty="0"/>
              <a:t> Real-time hazard alerts.</a:t>
            </a:r>
          </a:p>
          <a:p>
            <a:pPr marL="1759584" lvl="2" indent="-586528">
              <a:lnSpc>
                <a:spcPts val="5704"/>
              </a:lnSpc>
              <a:buFont typeface="Arial"/>
              <a:buChar char="⚬"/>
            </a:pPr>
            <a:r>
              <a:rPr lang="en-US" sz="3600" b="1" dirty="0"/>
              <a:t>Remote / Space Use:</a:t>
            </a:r>
            <a:r>
              <a:rPr lang="en-US" sz="3600" dirty="0"/>
              <a:t> Works in dangerous or inaccessible environments.</a:t>
            </a:r>
          </a:p>
          <a:p>
            <a:pPr marL="1759584" lvl="2" indent="-586528">
              <a:lnSpc>
                <a:spcPts val="5704"/>
              </a:lnSpc>
              <a:buFont typeface="Arial"/>
              <a:buChar char="⚬"/>
            </a:pPr>
            <a:r>
              <a:rPr lang="en-US" sz="3600" b="1" dirty="0"/>
              <a:t>Overall Benefits:</a:t>
            </a:r>
            <a:br>
              <a:rPr lang="en-US" sz="3600" dirty="0"/>
            </a:br>
            <a:r>
              <a:rPr lang="en-US" sz="3600" dirty="0"/>
              <a:t>Safer cities, faster responses, Lower monitoring cost, prevents major losses.</a:t>
            </a:r>
            <a:br>
              <a:rPr lang="en-US" sz="3600" dirty="0"/>
            </a:br>
            <a:r>
              <a:rPr lang="en-US" sz="3600" dirty="0"/>
              <a:t>Early fire control, reduced fuel-based patrolling. Scalable AI system for future smart-city &amp; research needs.</a:t>
            </a:r>
            <a:endParaRPr lang="en-US" sz="3600" dirty="0">
              <a:solidFill>
                <a:srgbClr val="000000"/>
              </a:solidFill>
              <a:latin typeface="Touvlo"/>
              <a:ea typeface="Touvlo"/>
              <a:cs typeface="Touvlo"/>
              <a:sym typeface="Touvlo"/>
            </a:endParaRPr>
          </a:p>
        </p:txBody>
      </p:sp>
      <p:sp>
        <p:nvSpPr>
          <p:cNvPr id="5" name="TextBox 19">
            <a:extLst>
              <a:ext uri="{FF2B5EF4-FFF2-40B4-BE49-F238E27FC236}">
                <a16:creationId xmlns:a16="http://schemas.microsoft.com/office/drawing/2014/main" id="{43552C99-B8C7-1AC9-FD26-EA29C742DAAD}"/>
              </a:ext>
            </a:extLst>
          </p:cNvPr>
          <p:cNvSpPr txBox="1"/>
          <p:nvPr/>
        </p:nvSpPr>
        <p:spPr>
          <a:xfrm>
            <a:off x="3695698" y="739568"/>
            <a:ext cx="10896601" cy="6027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52"/>
              </a:lnSpc>
            </a:pPr>
            <a:r>
              <a:rPr lang="en-US" sz="4800" dirty="0">
                <a:gradFill>
                  <a:gsLst>
                    <a:gs pos="0">
                      <a:srgbClr val="FD2121">
                        <a:alpha val="100000"/>
                      </a:srgbClr>
                    </a:gs>
                    <a:gs pos="100000">
                      <a:srgbClr val="B30000">
                        <a:alpha val="100000"/>
                      </a:srgbClr>
                    </a:gs>
                  </a:gsLst>
                  <a:lin ang="2700000"/>
                </a:gradFill>
                <a:latin typeface="HK Modular"/>
                <a:ea typeface="HK Modular"/>
                <a:cs typeface="HK Modular"/>
                <a:sym typeface="HK Modular"/>
              </a:rPr>
              <a:t>AI FOR ALL CHALLENGE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F500047-827B-848C-1117-91084B5B86C9}"/>
              </a:ext>
            </a:extLst>
          </p:cNvPr>
          <p:cNvSpPr/>
          <p:nvPr/>
        </p:nvSpPr>
        <p:spPr>
          <a:xfrm>
            <a:off x="16535400" y="458799"/>
            <a:ext cx="1233208" cy="1233208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4731973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54EF8-D9F3-1F21-F02F-D8C5452D5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C12D0A36-9AC2-490C-14FA-5251816C7017}"/>
              </a:ext>
            </a:extLst>
          </p:cNvPr>
          <p:cNvSpPr/>
          <p:nvPr/>
        </p:nvSpPr>
        <p:spPr bwMode="auto">
          <a:xfrm>
            <a:off x="228600" y="228600"/>
            <a:ext cx="17830800" cy="9829800"/>
          </a:xfrm>
          <a:custGeom>
            <a:avLst/>
            <a:gdLst/>
            <a:ahLst/>
            <a:cxnLst/>
            <a:rect l="l" t="t" r="r" b="b"/>
            <a:pathLst>
              <a:path w="4551818" h="2485609">
                <a:moveTo>
                  <a:pt x="0" y="0"/>
                </a:moveTo>
                <a:lnTo>
                  <a:pt x="4551818" y="0"/>
                </a:lnTo>
                <a:lnTo>
                  <a:pt x="4551818" y="2485609"/>
                </a:lnTo>
                <a:lnTo>
                  <a:pt x="0" y="248560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85725" cap="sq">
            <a:solidFill>
              <a:schemeClr val="accent2"/>
            </a:solidFill>
            <a:prstDash val="solid"/>
            <a:miter/>
          </a:ln>
        </p:spPr>
        <p:txBody>
          <a:bodyPr/>
          <a:lstStyle/>
          <a:p>
            <a:endParaRPr lang="en-US" dirty="0">
              <a:effectLst/>
            </a:endParaRP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568DEC18-7FC9-280A-223C-7850001BF9D3}"/>
              </a:ext>
            </a:extLst>
          </p:cNvPr>
          <p:cNvSpPr txBox="1"/>
          <p:nvPr/>
        </p:nvSpPr>
        <p:spPr>
          <a:xfrm>
            <a:off x="7111318" y="598927"/>
            <a:ext cx="4065363" cy="8889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eaLnBrk="1" fontAlgn="auto" hangingPunct="1">
              <a:lnSpc>
                <a:spcPts val="7575"/>
              </a:lnSpc>
              <a:spcAft>
                <a:spcPts val="0"/>
              </a:spcAft>
              <a:defRPr/>
            </a:pPr>
            <a:endParaRPr lang="en-US" sz="5411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Google Shape;217;p2">
            <a:extLst>
              <a:ext uri="{FF2B5EF4-FFF2-40B4-BE49-F238E27FC236}">
                <a16:creationId xmlns:a16="http://schemas.microsoft.com/office/drawing/2014/main" id="{CAAE8872-5A2D-BD41-5F18-2155B1D556C0}"/>
              </a:ext>
            </a:extLst>
          </p:cNvPr>
          <p:cNvSpPr txBox="1">
            <a:spLocks/>
          </p:cNvSpPr>
          <p:nvPr/>
        </p:nvSpPr>
        <p:spPr>
          <a:xfrm>
            <a:off x="5588692" y="1487888"/>
            <a:ext cx="7110614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5800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Proxima Nova Bold"/>
                <a:cs typeface="Times New Roman" panose="02020603050405020304" pitchFamily="18" charset="0"/>
                <a:sym typeface="Proxima Nova Bold"/>
              </a:rPr>
              <a:t>CHALLENGES AND LEARNINGS </a:t>
            </a:r>
          </a:p>
        </p:txBody>
      </p:sp>
      <p:sp>
        <p:nvSpPr>
          <p:cNvPr id="3" name="TextBox 15">
            <a:extLst>
              <a:ext uri="{FF2B5EF4-FFF2-40B4-BE49-F238E27FC236}">
                <a16:creationId xmlns:a16="http://schemas.microsoft.com/office/drawing/2014/main" id="{5AD317AC-DAE9-F22D-A197-8CEE3064FF9C}"/>
              </a:ext>
            </a:extLst>
          </p:cNvPr>
          <p:cNvSpPr txBox="1"/>
          <p:nvPr/>
        </p:nvSpPr>
        <p:spPr>
          <a:xfrm>
            <a:off x="957398" y="2781300"/>
            <a:ext cx="16811210" cy="7201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Calibri" panose="020F0502020204030204" pitchFamily="34" charset="0"/>
              <a:buChar char="o"/>
            </a:pPr>
            <a:r>
              <a:rPr lang="en-US" sz="3600" b="1" dirty="0"/>
              <a:t>Challenges:</a:t>
            </a:r>
            <a:br>
              <a:rPr lang="en-US" sz="3600" dirty="0"/>
            </a:br>
            <a:r>
              <a:rPr lang="en-US" sz="3600" dirty="0"/>
              <a:t>• Python version issues caused library errors &amp; slow model training.</a:t>
            </a:r>
            <a:br>
              <a:rPr lang="en-US" sz="3600" dirty="0"/>
            </a:br>
            <a:r>
              <a:rPr lang="en-US" sz="3600" dirty="0"/>
              <a:t>• Managing thousands of images was time-consuming.</a:t>
            </a:r>
            <a:br>
              <a:rPr lang="en-US" sz="3600" dirty="0"/>
            </a:br>
            <a:r>
              <a:rPr lang="en-US" sz="3600" dirty="0"/>
              <a:t>• Large, complex codebase was hard to debug.</a:t>
            </a:r>
            <a:br>
              <a:rPr lang="en-US" sz="3600" dirty="0"/>
            </a:br>
            <a:r>
              <a:rPr lang="en-US" sz="3600" dirty="0"/>
              <a:t>• API → dashboard real-time integration issues.</a:t>
            </a:r>
          </a:p>
          <a:p>
            <a:pPr marL="571500" indent="-571500">
              <a:buFont typeface="Calibri" panose="020F0502020204030204" pitchFamily="34" charset="0"/>
              <a:buChar char="o"/>
            </a:pPr>
            <a:r>
              <a:rPr lang="en-US" sz="3600" b="1" dirty="0"/>
              <a:t>Solutions:</a:t>
            </a:r>
            <a:br>
              <a:rPr lang="en-US" sz="3600" dirty="0"/>
            </a:br>
            <a:r>
              <a:rPr lang="en-US" sz="3600" dirty="0"/>
              <a:t>• Upgraded to Python 3.10 for ML compatibility.</a:t>
            </a:r>
            <a:br>
              <a:rPr lang="en-US" sz="3600" dirty="0"/>
            </a:br>
            <a:r>
              <a:rPr lang="en-US" sz="3600" dirty="0"/>
              <a:t>• Structured datasets + automated preprocessing.</a:t>
            </a:r>
            <a:br>
              <a:rPr lang="en-US" sz="3600" dirty="0"/>
            </a:br>
            <a:r>
              <a:rPr lang="en-US" sz="3600" dirty="0"/>
              <a:t>• Modular code + documentation for easier maintenance.</a:t>
            </a:r>
            <a:br>
              <a:rPr lang="en-US" sz="3600" dirty="0"/>
            </a:br>
            <a:r>
              <a:rPr lang="en-US" sz="3600" dirty="0"/>
              <a:t>• Stable FastAPI /Flask backend for real-time alerts.</a:t>
            </a:r>
          </a:p>
          <a:p>
            <a:pPr marL="571500" indent="-571500">
              <a:buFont typeface="Calibri" panose="020F0502020204030204" pitchFamily="34" charset="0"/>
              <a:buChar char="o"/>
            </a:pPr>
            <a:r>
              <a:rPr lang="en-US" sz="3600" b="1" dirty="0"/>
              <a:t>Learnings:</a:t>
            </a:r>
            <a:br>
              <a:rPr lang="en-US" sz="3600" dirty="0"/>
            </a:br>
            <a:r>
              <a:rPr lang="en-US" sz="3600" dirty="0"/>
              <a:t>Strong teamwork &amp; task division, Training &amp; optimizing AI models, Debugging camera, model, and API issues, Handling large datasets efficiently, Using GitHub.</a:t>
            </a:r>
            <a:endParaRPr lang="en-US" dirty="0"/>
          </a:p>
        </p:txBody>
      </p:sp>
      <p:sp>
        <p:nvSpPr>
          <p:cNvPr id="5" name="TextBox 19">
            <a:extLst>
              <a:ext uri="{FF2B5EF4-FFF2-40B4-BE49-F238E27FC236}">
                <a16:creationId xmlns:a16="http://schemas.microsoft.com/office/drawing/2014/main" id="{7062084E-7664-71C3-E533-DFF74B373199}"/>
              </a:ext>
            </a:extLst>
          </p:cNvPr>
          <p:cNvSpPr txBox="1"/>
          <p:nvPr/>
        </p:nvSpPr>
        <p:spPr>
          <a:xfrm>
            <a:off x="3695698" y="739568"/>
            <a:ext cx="10896601" cy="6027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52"/>
              </a:lnSpc>
            </a:pPr>
            <a:r>
              <a:rPr lang="en-US" sz="4800" dirty="0">
                <a:gradFill>
                  <a:gsLst>
                    <a:gs pos="0">
                      <a:srgbClr val="FD2121">
                        <a:alpha val="100000"/>
                      </a:srgbClr>
                    </a:gs>
                    <a:gs pos="100000">
                      <a:srgbClr val="B30000">
                        <a:alpha val="100000"/>
                      </a:srgbClr>
                    </a:gs>
                  </a:gsLst>
                  <a:lin ang="2700000"/>
                </a:gradFill>
                <a:latin typeface="HK Modular"/>
                <a:ea typeface="HK Modular"/>
                <a:cs typeface="HK Modular"/>
                <a:sym typeface="HK Modular"/>
              </a:rPr>
              <a:t>AI FOR ALL CHALLENGE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7E2374E-11A7-8078-65E9-A28C3EEE1A8F}"/>
              </a:ext>
            </a:extLst>
          </p:cNvPr>
          <p:cNvSpPr/>
          <p:nvPr/>
        </p:nvSpPr>
        <p:spPr>
          <a:xfrm>
            <a:off x="16535400" y="458799"/>
            <a:ext cx="1233208" cy="1233208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1364025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BB95B-1FAB-7863-5BEB-A84B8983C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2AC1046E-34CA-ECA4-A398-3918110196CB}"/>
              </a:ext>
            </a:extLst>
          </p:cNvPr>
          <p:cNvSpPr/>
          <p:nvPr/>
        </p:nvSpPr>
        <p:spPr bwMode="auto">
          <a:xfrm>
            <a:off x="228600" y="228600"/>
            <a:ext cx="17830800" cy="9829800"/>
          </a:xfrm>
          <a:custGeom>
            <a:avLst/>
            <a:gdLst/>
            <a:ahLst/>
            <a:cxnLst/>
            <a:rect l="l" t="t" r="r" b="b"/>
            <a:pathLst>
              <a:path w="4551818" h="2485609">
                <a:moveTo>
                  <a:pt x="0" y="0"/>
                </a:moveTo>
                <a:lnTo>
                  <a:pt x="4551818" y="0"/>
                </a:lnTo>
                <a:lnTo>
                  <a:pt x="4551818" y="2485609"/>
                </a:lnTo>
                <a:lnTo>
                  <a:pt x="0" y="248560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85725" cap="sq">
            <a:solidFill>
              <a:schemeClr val="accent2"/>
            </a:solidFill>
            <a:prstDash val="solid"/>
            <a:miter/>
          </a:ln>
        </p:spPr>
        <p:txBody>
          <a:bodyPr/>
          <a:lstStyle/>
          <a:p>
            <a:endParaRPr lang="en-US" dirty="0">
              <a:effectLst/>
            </a:endParaRP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4DA579F3-0396-FA61-8DAF-32048936203A}"/>
              </a:ext>
            </a:extLst>
          </p:cNvPr>
          <p:cNvSpPr txBox="1"/>
          <p:nvPr/>
        </p:nvSpPr>
        <p:spPr>
          <a:xfrm>
            <a:off x="7111318" y="598927"/>
            <a:ext cx="4065363" cy="8889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eaLnBrk="1" fontAlgn="auto" hangingPunct="1">
              <a:lnSpc>
                <a:spcPts val="7575"/>
              </a:lnSpc>
              <a:spcAft>
                <a:spcPts val="0"/>
              </a:spcAft>
              <a:defRPr/>
            </a:pPr>
            <a:endParaRPr lang="en-US" sz="5411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Google Shape;217;p2">
            <a:extLst>
              <a:ext uri="{FF2B5EF4-FFF2-40B4-BE49-F238E27FC236}">
                <a16:creationId xmlns:a16="http://schemas.microsoft.com/office/drawing/2014/main" id="{1A6F5BFA-4080-2260-54D6-94BA6EF4827E}"/>
              </a:ext>
            </a:extLst>
          </p:cNvPr>
          <p:cNvSpPr txBox="1">
            <a:spLocks/>
          </p:cNvSpPr>
          <p:nvPr/>
        </p:nvSpPr>
        <p:spPr>
          <a:xfrm>
            <a:off x="5626792" y="1487888"/>
            <a:ext cx="7034414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  <a:endParaRPr lang="en-US" sz="3600" b="1" dirty="0"/>
          </a:p>
        </p:txBody>
      </p:sp>
      <p:sp>
        <p:nvSpPr>
          <p:cNvPr id="2" name="TextBox 18">
            <a:extLst>
              <a:ext uri="{FF2B5EF4-FFF2-40B4-BE49-F238E27FC236}">
                <a16:creationId xmlns:a16="http://schemas.microsoft.com/office/drawing/2014/main" id="{C78DF220-CE83-CB90-32CF-21CF30508B85}"/>
              </a:ext>
            </a:extLst>
          </p:cNvPr>
          <p:cNvSpPr txBox="1"/>
          <p:nvPr/>
        </p:nvSpPr>
        <p:spPr>
          <a:xfrm>
            <a:off x="8106" y="2481684"/>
            <a:ext cx="18051294" cy="8693983"/>
          </a:xfrm>
          <a:prstGeom prst="rect">
            <a:avLst/>
          </a:prstGeom>
        </p:spPr>
        <p:txBody>
          <a:bodyPr wrap="square" lIns="0" tIns="0" rIns="0" bIns="0" numCol="1" rtlCol="0" anchor="t">
            <a:spAutoFit/>
          </a:bodyPr>
          <a:lstStyle/>
          <a:p>
            <a:pPr marL="1759584" lvl="2" indent="-586528">
              <a:lnSpc>
                <a:spcPts val="5704"/>
              </a:lnSpc>
              <a:buFont typeface="Arial"/>
              <a:buChar char="⚬"/>
            </a:pPr>
            <a:r>
              <a:rPr lang="en-US" sz="3600" b="1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N</a:t>
            </a:r>
            <a:r>
              <a:rPr lang="en-US" sz="3600" b="1" dirty="0">
                <a:solidFill>
                  <a:srgbClr val="000000"/>
                </a:solidFill>
                <a:latin typeface="Touvlo"/>
                <a:cs typeface="Touvlo"/>
                <a:sym typeface="Touvlo"/>
              </a:rPr>
              <a:t>AME  </a:t>
            </a:r>
            <a:r>
              <a:rPr lang="en-US" sz="3600" b="1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                         TYPE                                       LINK</a:t>
            </a:r>
          </a:p>
          <a:p>
            <a:pPr marL="1173056" lvl="2">
              <a:lnSpc>
                <a:spcPts val="5704"/>
              </a:lnSpc>
            </a:pPr>
            <a:r>
              <a:rPr lang="en-US" sz="3600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       OpenCV              Documentation               </a:t>
            </a:r>
            <a:r>
              <a:rPr lang="en-US" sz="3600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  <a:hlinkClick r:id="rId2"/>
              </a:rPr>
              <a:t>https://docs.opencv.org/4.x/</a:t>
            </a:r>
            <a:endParaRPr lang="en-US" sz="3600" dirty="0">
              <a:solidFill>
                <a:srgbClr val="000000"/>
              </a:solidFill>
              <a:latin typeface="Touvlo"/>
              <a:ea typeface="Touvlo"/>
              <a:cs typeface="Touvlo"/>
              <a:sym typeface="Touvlo"/>
            </a:endParaRPr>
          </a:p>
          <a:p>
            <a:pPr marL="1173056" lvl="2">
              <a:lnSpc>
                <a:spcPts val="5704"/>
              </a:lnSpc>
            </a:pPr>
            <a:r>
              <a:rPr lang="en-US" sz="3600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       NumPy                Documentation               </a:t>
            </a:r>
            <a:r>
              <a:rPr lang="en-US" sz="3600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  <a:hlinkClick r:id="rId3"/>
              </a:rPr>
              <a:t>https://numpy.org/doc/</a:t>
            </a:r>
            <a:r>
              <a:rPr lang="en-US" sz="3600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 </a:t>
            </a:r>
          </a:p>
          <a:p>
            <a:pPr marL="1173056" lvl="2">
              <a:lnSpc>
                <a:spcPts val="5704"/>
              </a:lnSpc>
            </a:pPr>
            <a:r>
              <a:rPr lang="en-US" sz="3600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       </a:t>
            </a:r>
            <a:r>
              <a:rPr lang="en-US" sz="3600" dirty="0" err="1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Roboflow</a:t>
            </a:r>
            <a:r>
              <a:rPr lang="en-US" sz="3600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            Training Dataset              </a:t>
            </a:r>
            <a:r>
              <a:rPr lang="en-US" sz="3600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  <a:hlinkClick r:id="rId4"/>
              </a:rPr>
              <a:t>https://public.roboflow.com</a:t>
            </a:r>
          </a:p>
          <a:p>
            <a:pPr marL="1759584" lvl="2" indent="-586528">
              <a:lnSpc>
                <a:spcPts val="5704"/>
              </a:lnSpc>
              <a:buFont typeface="Arial"/>
              <a:buChar char="⚬"/>
            </a:pPr>
            <a:r>
              <a:rPr lang="en-US" sz="3600" b="1" dirty="0">
                <a:solidFill>
                  <a:srgbClr val="000000"/>
                </a:solidFill>
                <a:latin typeface="Touvlo"/>
                <a:cs typeface="Touvlo"/>
                <a:sym typeface="Touvlo"/>
              </a:rPr>
              <a:t>Datasets used [Fire, Helmet, no helmet, Car accident, Smoke, </a:t>
            </a:r>
            <a:r>
              <a:rPr lang="en-US" sz="3600" b="1" dirty="0" err="1">
                <a:solidFill>
                  <a:srgbClr val="000000"/>
                </a:solidFill>
                <a:latin typeface="Touvlo"/>
                <a:cs typeface="Touvlo"/>
                <a:sym typeface="Touvlo"/>
              </a:rPr>
              <a:t>etc</a:t>
            </a:r>
            <a:r>
              <a:rPr lang="en-US" sz="3600" b="1" dirty="0">
                <a:solidFill>
                  <a:srgbClr val="000000"/>
                </a:solidFill>
                <a:latin typeface="Touvlo"/>
                <a:cs typeface="Touvlo"/>
                <a:sym typeface="Touvlo"/>
              </a:rPr>
              <a:t>]:</a:t>
            </a:r>
          </a:p>
          <a:p>
            <a:pPr marL="1173056" lvl="2">
              <a:lnSpc>
                <a:spcPts val="5704"/>
              </a:lnSpc>
            </a:pPr>
            <a:r>
              <a:rPr lang="en-US" sz="3600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  <a:hlinkClick r:id="rId5"/>
              </a:rPr>
              <a:t>https://app.roboflow.com/yash-karn/fire-and-smoke-detection-hiwia-amh6u-exebn/1</a:t>
            </a:r>
            <a:endParaRPr lang="en-US" sz="3600" dirty="0">
              <a:solidFill>
                <a:srgbClr val="000000"/>
              </a:solidFill>
              <a:latin typeface="Touvlo"/>
              <a:ea typeface="Touvlo"/>
              <a:cs typeface="Touvlo"/>
              <a:sym typeface="Touvlo"/>
            </a:endParaRPr>
          </a:p>
          <a:p>
            <a:pPr marL="1173056" lvl="2">
              <a:lnSpc>
                <a:spcPts val="5704"/>
              </a:lnSpc>
            </a:pPr>
            <a:r>
              <a:rPr lang="en-US" sz="3600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  <a:hlinkClick r:id="rId6"/>
              </a:rPr>
              <a:t>https://app.roboflow.com/yash-karn/helmet-motorcycle-detection-pro0q-r6qgl/1</a:t>
            </a:r>
            <a:endParaRPr lang="en-US" sz="3600" dirty="0">
              <a:solidFill>
                <a:srgbClr val="000000"/>
              </a:solidFill>
              <a:latin typeface="Touvlo"/>
              <a:ea typeface="Touvlo"/>
              <a:cs typeface="Touvlo"/>
              <a:sym typeface="Touvlo"/>
            </a:endParaRPr>
          </a:p>
          <a:p>
            <a:pPr marL="1173056" lvl="2">
              <a:lnSpc>
                <a:spcPts val="5704"/>
              </a:lnSpc>
            </a:pPr>
            <a:r>
              <a:rPr lang="en-US" sz="3600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  <a:hlinkClick r:id="rId7"/>
              </a:rPr>
              <a:t>https://app.roboflow.com/yash-karn/no-helmet-detection-qhw6v-b1oqj/1</a:t>
            </a:r>
            <a:endParaRPr lang="en-US" sz="3600" dirty="0">
              <a:solidFill>
                <a:srgbClr val="000000"/>
              </a:solidFill>
              <a:latin typeface="Touvlo"/>
              <a:ea typeface="Touvlo"/>
              <a:cs typeface="Touvlo"/>
              <a:sym typeface="Touvlo"/>
            </a:endParaRPr>
          </a:p>
          <a:p>
            <a:pPr marL="1173056" lvl="2">
              <a:lnSpc>
                <a:spcPts val="5704"/>
              </a:lnSpc>
            </a:pPr>
            <a:r>
              <a:rPr lang="en-US" sz="3600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  <a:hlinkClick r:id="rId8"/>
              </a:rPr>
              <a:t>https://app.roboflow.com/yash-karn/car-accident-jp29y-fphyg/1</a:t>
            </a:r>
            <a:endParaRPr lang="en-US" sz="3600" dirty="0">
              <a:solidFill>
                <a:srgbClr val="000000"/>
              </a:solidFill>
              <a:latin typeface="Touvlo"/>
              <a:ea typeface="Touvlo"/>
              <a:cs typeface="Touvlo"/>
              <a:sym typeface="Touvlo"/>
            </a:endParaRPr>
          </a:p>
          <a:p>
            <a:pPr marL="1173056" lvl="2">
              <a:lnSpc>
                <a:spcPts val="5704"/>
              </a:lnSpc>
            </a:pPr>
            <a:r>
              <a:rPr lang="en-US" sz="3600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  <a:hlinkClick r:id="rId5"/>
              </a:rPr>
              <a:t>https://app.roboflow.com/yash-karn/fire-and-smoke-detection-hiwia-amh6u-exebn/1</a:t>
            </a:r>
            <a:endParaRPr lang="en-US" sz="3600" dirty="0">
              <a:solidFill>
                <a:srgbClr val="000000"/>
              </a:solidFill>
              <a:latin typeface="Touvlo"/>
              <a:ea typeface="Touvlo"/>
              <a:cs typeface="Touvlo"/>
              <a:sym typeface="Touvlo"/>
            </a:endParaRPr>
          </a:p>
          <a:p>
            <a:pPr marL="1173056" lvl="2">
              <a:lnSpc>
                <a:spcPts val="5704"/>
              </a:lnSpc>
            </a:pPr>
            <a:endParaRPr lang="en-US" sz="3600" dirty="0">
              <a:solidFill>
                <a:srgbClr val="000000"/>
              </a:solidFill>
              <a:latin typeface="Touvlo"/>
              <a:ea typeface="Touvlo"/>
              <a:cs typeface="Touvlo"/>
              <a:sym typeface="Touvlo"/>
            </a:endParaRPr>
          </a:p>
          <a:p>
            <a:pPr marL="1173056" lvl="2">
              <a:lnSpc>
                <a:spcPts val="5704"/>
              </a:lnSpc>
            </a:pPr>
            <a:endParaRPr lang="en-US" sz="3600" dirty="0">
              <a:solidFill>
                <a:srgbClr val="000000"/>
              </a:solidFill>
              <a:latin typeface="Touvlo"/>
              <a:ea typeface="Touvlo"/>
              <a:cs typeface="Touvlo"/>
              <a:sym typeface="Touvlo"/>
            </a:endParaRPr>
          </a:p>
        </p:txBody>
      </p:sp>
      <p:sp>
        <p:nvSpPr>
          <p:cNvPr id="5" name="TextBox 19">
            <a:extLst>
              <a:ext uri="{FF2B5EF4-FFF2-40B4-BE49-F238E27FC236}">
                <a16:creationId xmlns:a16="http://schemas.microsoft.com/office/drawing/2014/main" id="{542297DC-9D07-94E4-2523-27FAE97DB988}"/>
              </a:ext>
            </a:extLst>
          </p:cNvPr>
          <p:cNvSpPr txBox="1"/>
          <p:nvPr/>
        </p:nvSpPr>
        <p:spPr>
          <a:xfrm>
            <a:off x="3695698" y="739568"/>
            <a:ext cx="10896601" cy="6027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52"/>
              </a:lnSpc>
            </a:pPr>
            <a:r>
              <a:rPr lang="en-US" sz="4800" dirty="0">
                <a:gradFill>
                  <a:gsLst>
                    <a:gs pos="0">
                      <a:srgbClr val="FD2121">
                        <a:alpha val="100000"/>
                      </a:srgbClr>
                    </a:gs>
                    <a:gs pos="100000">
                      <a:srgbClr val="B30000">
                        <a:alpha val="100000"/>
                      </a:srgbClr>
                    </a:gs>
                  </a:gsLst>
                  <a:lin ang="2700000"/>
                </a:gradFill>
                <a:latin typeface="HK Modular"/>
                <a:ea typeface="HK Modular"/>
                <a:cs typeface="HK Modular"/>
                <a:sym typeface="HK Modular"/>
              </a:rPr>
              <a:t>AI FOR ALL CHALLENGE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7A658C5-BD95-01A5-4B37-E915FA7B2F9E}"/>
              </a:ext>
            </a:extLst>
          </p:cNvPr>
          <p:cNvSpPr/>
          <p:nvPr/>
        </p:nvSpPr>
        <p:spPr>
          <a:xfrm>
            <a:off x="16535400" y="458799"/>
            <a:ext cx="1233208" cy="1233208"/>
          </a:xfrm>
          <a:prstGeom prst="ellipse">
            <a:avLst/>
          </a:prstGeom>
          <a:blipFill dpi="0"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8627550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60674-16C5-3369-8D82-D6549D0FD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3">
            <a:extLst>
              <a:ext uri="{FF2B5EF4-FFF2-40B4-BE49-F238E27FC236}">
                <a16:creationId xmlns:a16="http://schemas.microsoft.com/office/drawing/2014/main" id="{292D9AE7-A346-62C7-B2AC-6BAE0A9BD1E1}"/>
              </a:ext>
            </a:extLst>
          </p:cNvPr>
          <p:cNvSpPr/>
          <p:nvPr/>
        </p:nvSpPr>
        <p:spPr bwMode="auto">
          <a:xfrm>
            <a:off x="5714999" y="3333750"/>
            <a:ext cx="6857998" cy="3619500"/>
          </a:xfrm>
          <a:custGeom>
            <a:avLst/>
            <a:gdLst/>
            <a:ahLst/>
            <a:cxnLst/>
            <a:rect l="l" t="t" r="r" b="b"/>
            <a:pathLst>
              <a:path w="4551818" h="2485609">
                <a:moveTo>
                  <a:pt x="0" y="0"/>
                </a:moveTo>
                <a:lnTo>
                  <a:pt x="4551818" y="0"/>
                </a:lnTo>
                <a:lnTo>
                  <a:pt x="4551818" y="2485609"/>
                </a:lnTo>
                <a:lnTo>
                  <a:pt x="0" y="248560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85725" cap="sq">
            <a:solidFill>
              <a:schemeClr val="accent2"/>
            </a:solidFill>
            <a:prstDash val="solid"/>
            <a:miter/>
          </a:ln>
        </p:spPr>
        <p:txBody>
          <a:bodyPr/>
          <a:lstStyle/>
          <a:p>
            <a:endParaRPr lang="en-US" dirty="0">
              <a:effectLst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BB712779-AB2F-8E70-9D99-E08D857D841E}"/>
              </a:ext>
            </a:extLst>
          </p:cNvPr>
          <p:cNvSpPr/>
          <p:nvPr/>
        </p:nvSpPr>
        <p:spPr bwMode="auto">
          <a:xfrm>
            <a:off x="228598" y="228600"/>
            <a:ext cx="17830800" cy="9829800"/>
          </a:xfrm>
          <a:custGeom>
            <a:avLst/>
            <a:gdLst/>
            <a:ahLst/>
            <a:cxnLst/>
            <a:rect l="l" t="t" r="r" b="b"/>
            <a:pathLst>
              <a:path w="4551818" h="2485609">
                <a:moveTo>
                  <a:pt x="0" y="0"/>
                </a:moveTo>
                <a:lnTo>
                  <a:pt x="4551818" y="0"/>
                </a:lnTo>
                <a:lnTo>
                  <a:pt x="4551818" y="2485609"/>
                </a:lnTo>
                <a:lnTo>
                  <a:pt x="0" y="248560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85725" cap="sq">
            <a:solidFill>
              <a:schemeClr val="accent2"/>
            </a:solidFill>
            <a:prstDash val="solid"/>
            <a:miter/>
          </a:ln>
        </p:spPr>
        <p:txBody>
          <a:bodyPr/>
          <a:lstStyle/>
          <a:p>
            <a:endParaRPr lang="en-US" dirty="0">
              <a:effectLst/>
            </a:endParaRP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3FE5F329-7CC9-8D25-08F5-22FA5F878C59}"/>
              </a:ext>
            </a:extLst>
          </p:cNvPr>
          <p:cNvSpPr txBox="1"/>
          <p:nvPr/>
        </p:nvSpPr>
        <p:spPr>
          <a:xfrm>
            <a:off x="7111318" y="598927"/>
            <a:ext cx="4065363" cy="8889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eaLnBrk="1" fontAlgn="auto" hangingPunct="1">
              <a:lnSpc>
                <a:spcPts val="7575"/>
              </a:lnSpc>
              <a:spcAft>
                <a:spcPts val="0"/>
              </a:spcAft>
              <a:defRPr/>
            </a:pPr>
            <a:endParaRPr lang="en-US" sz="5411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Google Shape;217;p2">
            <a:extLst>
              <a:ext uri="{FF2B5EF4-FFF2-40B4-BE49-F238E27FC236}">
                <a16:creationId xmlns:a16="http://schemas.microsoft.com/office/drawing/2014/main" id="{B3FE21BF-E430-568E-E103-B179B05B1279}"/>
              </a:ext>
            </a:extLst>
          </p:cNvPr>
          <p:cNvSpPr txBox="1">
            <a:spLocks/>
          </p:cNvSpPr>
          <p:nvPr/>
        </p:nvSpPr>
        <p:spPr>
          <a:xfrm>
            <a:off x="6376783" y="1487888"/>
            <a:ext cx="5534431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5932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Proxima Nova Bold"/>
                <a:cs typeface="Times New Roman" panose="02020603050405020304" pitchFamily="18" charset="0"/>
                <a:sym typeface="Proxima Nova Bold"/>
              </a:rPr>
              <a:t>TEAM MEMEBERS</a:t>
            </a:r>
          </a:p>
        </p:txBody>
      </p:sp>
      <p:sp>
        <p:nvSpPr>
          <p:cNvPr id="3" name="TextBox 13">
            <a:extLst>
              <a:ext uri="{FF2B5EF4-FFF2-40B4-BE49-F238E27FC236}">
                <a16:creationId xmlns:a16="http://schemas.microsoft.com/office/drawing/2014/main" id="{CE70D230-7BA9-2304-F490-8AC4758927DA}"/>
              </a:ext>
            </a:extLst>
          </p:cNvPr>
          <p:cNvSpPr txBox="1"/>
          <p:nvPr/>
        </p:nvSpPr>
        <p:spPr>
          <a:xfrm>
            <a:off x="636104" y="3740814"/>
            <a:ext cx="17159008" cy="23621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325915" lvl="2">
              <a:lnSpc>
                <a:spcPts val="6448"/>
              </a:lnSpc>
            </a:pPr>
            <a:r>
              <a:rPr lang="en-US" sz="3600" b="1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							   NAME:                                                                                                          </a:t>
            </a:r>
            <a:endParaRPr lang="en-US" sz="3600" dirty="0">
              <a:solidFill>
                <a:srgbClr val="000000"/>
              </a:solidFill>
              <a:latin typeface="Touvlo"/>
              <a:ea typeface="Touvlo"/>
              <a:cs typeface="Touvlo"/>
              <a:sym typeface="Touvlo"/>
            </a:endParaRPr>
          </a:p>
          <a:p>
            <a:pPr marL="1325915" lvl="2">
              <a:lnSpc>
                <a:spcPts val="6448"/>
              </a:lnSpc>
            </a:pPr>
            <a:r>
              <a:rPr lang="en-US" sz="3600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    					 DIVYANSHU SWAIN                                  </a:t>
            </a:r>
          </a:p>
          <a:p>
            <a:pPr marL="1325915" lvl="2">
              <a:lnSpc>
                <a:spcPts val="6448"/>
              </a:lnSpc>
            </a:pPr>
            <a:r>
              <a:rPr lang="en-US" sz="3600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							 JAI MALL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9EDCC2-A9C5-FECF-02E2-820FCDBBB3D7}"/>
              </a:ext>
            </a:extLst>
          </p:cNvPr>
          <p:cNvSpPr txBox="1"/>
          <p:nvPr/>
        </p:nvSpPr>
        <p:spPr>
          <a:xfrm>
            <a:off x="434893" y="8115300"/>
            <a:ext cx="167863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EVERYONE IN OUR TEAM SHARED ALL THE RESPONSIBILITIES EQUALLY WHETHER IT WAS TRAINING THE AI MODEL,CREATING THE WEBSITE,OR INTEGRATING IT WITH API.                                THANK YOU</a:t>
            </a:r>
          </a:p>
        </p:txBody>
      </p:sp>
      <p:sp>
        <p:nvSpPr>
          <p:cNvPr id="6" name="TextBox 19">
            <a:extLst>
              <a:ext uri="{FF2B5EF4-FFF2-40B4-BE49-F238E27FC236}">
                <a16:creationId xmlns:a16="http://schemas.microsoft.com/office/drawing/2014/main" id="{4431FDFA-5B35-B219-ED3F-CFE25CD8D299}"/>
              </a:ext>
            </a:extLst>
          </p:cNvPr>
          <p:cNvSpPr txBox="1"/>
          <p:nvPr/>
        </p:nvSpPr>
        <p:spPr>
          <a:xfrm>
            <a:off x="3695698" y="739568"/>
            <a:ext cx="10896601" cy="6027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52"/>
              </a:lnSpc>
            </a:pPr>
            <a:r>
              <a:rPr lang="en-US" sz="4800" dirty="0">
                <a:gradFill>
                  <a:gsLst>
                    <a:gs pos="0">
                      <a:srgbClr val="FD2121">
                        <a:alpha val="100000"/>
                      </a:srgbClr>
                    </a:gs>
                    <a:gs pos="100000">
                      <a:srgbClr val="B30000">
                        <a:alpha val="100000"/>
                      </a:srgbClr>
                    </a:gs>
                  </a:gsLst>
                  <a:lin ang="2700000"/>
                </a:gradFill>
                <a:latin typeface="HK Modular"/>
                <a:ea typeface="HK Modular"/>
                <a:cs typeface="HK Modular"/>
                <a:sym typeface="HK Modular"/>
              </a:rPr>
              <a:t>AI FOR ALL CHALLENGE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54F059E-3F7D-69E8-730F-47705179C545}"/>
              </a:ext>
            </a:extLst>
          </p:cNvPr>
          <p:cNvSpPr/>
          <p:nvPr/>
        </p:nvSpPr>
        <p:spPr>
          <a:xfrm>
            <a:off x="16535400" y="458799"/>
            <a:ext cx="1233208" cy="1233208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58954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Words>633</Words>
  <Application>Microsoft Office PowerPoint</Application>
  <PresentationFormat>Custom</PresentationFormat>
  <Paragraphs>70</Paragraphs>
  <Slides>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HK Modular</vt:lpstr>
      <vt:lpstr>Times New Roman</vt:lpstr>
      <vt:lpstr>Calibri</vt:lpstr>
      <vt:lpstr>Poppins Bold</vt:lpstr>
      <vt:lpstr>Touvlo</vt:lpstr>
      <vt:lpstr>Arial</vt:lpstr>
      <vt:lpstr>Franklin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buildathon 1.0 2025</dc:title>
  <dc:creator>Shubham Yadav</dc:creator>
  <cp:lastModifiedBy>Admin</cp:lastModifiedBy>
  <cp:revision>21</cp:revision>
  <dcterms:created xsi:type="dcterms:W3CDTF">2006-08-16T00:00:00Z</dcterms:created>
  <dcterms:modified xsi:type="dcterms:W3CDTF">2026-01-18T16:30:03Z</dcterms:modified>
  <dc:identifier>DAG4HirLYYo</dc:identifier>
</cp:coreProperties>
</file>